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60" r:id="rId5"/>
    <p:sldId id="261" r:id="rId6"/>
    <p:sldId id="270" r:id="rId7"/>
    <p:sldId id="262" r:id="rId8"/>
    <p:sldId id="271" r:id="rId9"/>
    <p:sldId id="264" r:id="rId10"/>
    <p:sldId id="272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9" r:id="rId25"/>
    <p:sldId id="310" r:id="rId26"/>
    <p:sldId id="290" r:id="rId27"/>
    <p:sldId id="291" r:id="rId28"/>
    <p:sldId id="292" r:id="rId29"/>
    <p:sldId id="293" r:id="rId30"/>
    <p:sldId id="301" r:id="rId31"/>
    <p:sldId id="300" r:id="rId32"/>
    <p:sldId id="308" r:id="rId33"/>
    <p:sldId id="309" r:id="rId34"/>
    <p:sldId id="268" r:id="rId35"/>
  </p:sldIdLst>
  <p:sldSz cx="9144000" cy="6858000" type="screen4x3"/>
  <p:notesSz cx="6858000" cy="9144000"/>
  <p:embeddedFontLst>
    <p:embeddedFont>
      <p:font typeface="Century Gothic" panose="020B050202020202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1" roundtripDataSignature="AMtx7miFws0QdwmYtfvHCsC+jTxWwy0L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5360ED-CDE4-4EA3-AF55-9C918C52FC0D}" v="258" dt="2025-10-01T06:21:36.475"/>
    <p1510:client id="{22F632F7-C2B0-4CC2-8641-BEECF3D51CB4}" v="24" dt="2025-10-02T06:13:21.344"/>
    <p1510:client id="{256C1F52-D00D-4235-9562-7652C3E8A8AD}" v="8" dt="2025-10-01T16:24:47.380"/>
    <p1510:client id="{259C223C-374C-4D00-9BFB-AAF2815BA83F}" v="103" dt="2025-10-01T17:14:01.932"/>
    <p1510:client id="{59D5282A-355B-4E8C-85F2-8A3A139C0246}" v="92" dt="2025-10-01T16:15:22.139"/>
    <p1510:client id="{67AF222A-2B20-4AC9-B834-00DE0BC1CDCA}" v="276" dt="2025-10-01T04:45:48.298"/>
    <p1510:client id="{7B1FC281-49AC-41B0-9C72-08070D2DE785}" v="2" dt="2025-10-01T10:37:23.129"/>
    <p1510:client id="{9B21B73D-C14E-42C1-BC3D-85DC919665C6}" v="15" dt="2025-10-01T15:42:46.819"/>
    <p1510:client id="{DFDD9B2C-9E9F-41E7-B95E-5076F6E18FD2}" v="87" dt="2025-10-01T06:40:59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20" Type="http://schemas.openxmlformats.org/officeDocument/2006/relationships/slide" Target="slides/slide19.xml"/><Relationship Id="rId5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D7A50466-2B92-A766-99C6-FE96B4598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:notes">
            <a:extLst>
              <a:ext uri="{FF2B5EF4-FFF2-40B4-BE49-F238E27FC236}">
                <a16:creationId xmlns:a16="http://schemas.microsoft.com/office/drawing/2014/main" id="{A6DEE2CB-4249-5785-040E-F2AEB76E50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6:notes">
            <a:extLst>
              <a:ext uri="{FF2B5EF4-FFF2-40B4-BE49-F238E27FC236}">
                <a16:creationId xmlns:a16="http://schemas.microsoft.com/office/drawing/2014/main" id="{97B4277A-F0C0-63C8-0D31-990EFC8CA5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4800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A88F05DF-2BA5-324E-6A9F-B28F28016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:notes">
            <a:extLst>
              <a:ext uri="{FF2B5EF4-FFF2-40B4-BE49-F238E27FC236}">
                <a16:creationId xmlns:a16="http://schemas.microsoft.com/office/drawing/2014/main" id="{D4699079-9C1F-2B6E-5841-DB4D2B6B00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7:notes">
            <a:extLst>
              <a:ext uri="{FF2B5EF4-FFF2-40B4-BE49-F238E27FC236}">
                <a16:creationId xmlns:a16="http://schemas.microsoft.com/office/drawing/2014/main" id="{CFD7190F-F39C-FC86-73BA-19E1452808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3036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D3A68A60-3D2D-572E-1450-3F1F2941E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550BEC6C-6EEC-07D0-422F-C9BD59BB0A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3DDA86B8-75B7-BDE1-70B3-5EDFB0112F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1316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65ECABA2-4A3D-E643-839A-C34C83F38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82AA989E-41C0-BAC1-3F09-22626C32A0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A961DFFC-D6B5-E150-E5BF-5358760A13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41469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36AC766D-DD52-D40C-700C-981E66DA6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C60488C2-263B-45F8-5C87-781C89EDA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C243F1D6-F339-7CA4-1288-B7BB27C7CF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0994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82843BDD-4ADC-A952-18B8-37860B535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F26C2534-8D2B-3993-EA0C-A1B2CE7B9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5F1E8CE6-E607-A0E7-3622-96FA8D0B35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8382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20CF1F7E-6584-4AC6-1E4C-1BA071D25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D958C6E0-1B0B-259D-9016-0F51B715A3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7B7E1ED5-DAE0-2B60-C879-EBBA58A3D5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48495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2C6554D2-88F1-94F6-A581-AB6A722D4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E69D3CB9-80AB-999C-ED85-4613FF6041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C6EADB4C-145C-5000-71BE-8C9047927D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65074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08741266-A8C3-F975-9419-28B825274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8503F92E-738D-254E-ADBE-82576B0D0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035CBFD6-8503-1CFA-1C13-B942CEDDF3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96523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A3865962-E3C9-6550-8211-781D1D0D3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0E37FCF7-33F5-361A-EBAD-6634D2C902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25DBF692-1DF0-70FE-61C2-14FD9BDB9C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05719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1C60D5DD-7EA5-8FFC-A0F4-5E0BB9280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BC090A73-35F3-0990-4D44-ED6541B738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F196678A-043E-F320-78D8-38423FDC0C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86304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03F260AB-AF39-7E1A-3117-78C61FD61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F7C8E362-A89A-A6F1-00DA-15CC0ADFFC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58A60342-899A-AC84-27F5-4BABBE2642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00939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B806C533-6E4B-DFDE-596A-F613352C3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C9BD0107-5B59-1987-BAAA-A8B5373AA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B96B1F2B-5A05-BBF3-A392-D04E9A0797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00473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475F929B-8144-59E5-CFFD-7956D5A7D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C9D720E9-D989-63B5-03FF-942B9453EF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C3D12545-7A30-7BA1-DFD5-E39D257CF8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41867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B48F9F08-99DB-A130-B0DB-D47F6B132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EAB2F4D7-364E-FF45-5C58-E8940B5FF6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060286C0-6072-B9BF-D028-3843CD29D3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63370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74ACD00B-1295-58E9-1DCB-253106432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5B33C519-1A8E-209B-51A7-79885F56E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6116849F-E7B7-3258-1C92-976B46ABF1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91759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30ABC959-15CB-0406-7F1B-B3D1DEF1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C405A8AB-F605-6765-0D2A-7D3A7174A7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FD536A97-3FA4-8D07-D6B8-1020584561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31521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968A2733-5300-9EC7-DFE1-AD18C8C7A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CDCEF7F4-508B-21CC-92FD-8F03042BD1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0015A641-51F5-A996-7729-26B96D0E60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14710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1C39E0DA-C622-7170-4AE2-3776EB622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3AA324D6-24DB-D331-36AF-FE5824DDF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C221EEF7-178A-BD19-445E-E73F4CD3D4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62050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CCD798E3-2236-88A0-DCAB-388C8B365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03DFF1F6-8167-EC50-6026-6217F1D261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6F937B80-EF73-6DEE-8A01-CF96E31362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27250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8D27AC2B-6670-80BF-96FC-2850EC143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FDCE076F-D4B7-989E-A339-53D11B7001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79BFCF7B-9DF7-44DB-44BF-6E74E007F1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75070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7AC52C28-1266-15E4-0BFD-559C9AAD4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220306DE-85AC-4CAB-2738-AF06A28973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C72CF974-D516-FBE6-5F13-9A67DF7DF3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4585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A13C774D-084D-D5A3-81E8-4FC95768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D44BAB95-8089-BAB3-A6FF-83D1222D5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18DCBE73-B71F-6B10-B6FC-EE72335FEE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88908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73B106F1-BDE8-BE68-5553-6D54A01E3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>
            <a:extLst>
              <a:ext uri="{FF2B5EF4-FFF2-40B4-BE49-F238E27FC236}">
                <a16:creationId xmlns:a16="http://schemas.microsoft.com/office/drawing/2014/main" id="{A828334D-B33F-97BA-243A-C3D86937F6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>
            <a:extLst>
              <a:ext uri="{FF2B5EF4-FFF2-40B4-BE49-F238E27FC236}">
                <a16:creationId xmlns:a16="http://schemas.microsoft.com/office/drawing/2014/main" id="{26EB8F3A-F87C-C4A7-D0E8-E50151129A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01768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D1ED2672-6085-E4E2-6B18-E7E44CACF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>
            <a:extLst>
              <a:ext uri="{FF2B5EF4-FFF2-40B4-BE49-F238E27FC236}">
                <a16:creationId xmlns:a16="http://schemas.microsoft.com/office/drawing/2014/main" id="{B3A32053-0484-5372-94D6-9D7A8CE968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2:notes">
            <a:extLst>
              <a:ext uri="{FF2B5EF4-FFF2-40B4-BE49-F238E27FC236}">
                <a16:creationId xmlns:a16="http://schemas.microsoft.com/office/drawing/2014/main" id="{73105FC5-CF67-79E6-A2DC-E27215414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2614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C0E36938-3744-36B6-0B7F-29819110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>
            <a:extLst>
              <a:ext uri="{FF2B5EF4-FFF2-40B4-BE49-F238E27FC236}">
                <a16:creationId xmlns:a16="http://schemas.microsoft.com/office/drawing/2014/main" id="{C6C836E8-B0F7-F553-51D0-4CC6C4C57E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2:notes">
            <a:extLst>
              <a:ext uri="{FF2B5EF4-FFF2-40B4-BE49-F238E27FC236}">
                <a16:creationId xmlns:a16="http://schemas.microsoft.com/office/drawing/2014/main" id="{7CF8F4DA-C054-21C9-2804-D8858EA426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00697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1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28" name="Google Shape;28;p16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12" r="-16986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16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35" name="Google Shape;35;p16"/>
          <p:cNvSpPr txBox="1"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rgbClr val="EE52A4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 rot="5400000">
            <a:off x="7498080" y="1828800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 rot="5400000">
            <a:off x="6236208" y="3264408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1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49" name="Google Shape;49;p1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12" r="-16986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1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8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8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8"/>
            <p:cNvSpPr/>
            <p:nvPr/>
          </p:nvSpPr>
          <p:spPr>
            <a:xfrm rot="-5400000">
              <a:off x="3105027" y="1765596"/>
              <a:ext cx="5995993" cy="3326809"/>
            </a:xfrm>
            <a:custGeom>
              <a:avLst/>
              <a:gdLst/>
              <a:ahLst/>
              <a:cxnLst/>
              <a:rect l="l" t="t" r="r" b="b"/>
              <a:pathLst>
                <a:path w="4960" h="2752" extrusionOk="0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57" name="Google Shape;57;p18"/>
            <p:cNvSpPr/>
            <p:nvPr/>
          </p:nvSpPr>
          <p:spPr>
            <a:xfrm rot="-5912394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8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body" idx="1"/>
          </p:nvPr>
        </p:nvSpPr>
        <p:spPr>
          <a:xfrm>
            <a:off x="866440" y="2489200"/>
            <a:ext cx="3636980" cy="353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body" idx="2"/>
          </p:nvPr>
        </p:nvSpPr>
        <p:spPr>
          <a:xfrm>
            <a:off x="4640581" y="2489203"/>
            <a:ext cx="363698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2"/>
          </p:nvPr>
        </p:nvSpPr>
        <p:spPr>
          <a:xfrm>
            <a:off x="866440" y="3248490"/>
            <a:ext cx="3636980" cy="2771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3"/>
          </p:nvPr>
        </p:nvSpPr>
        <p:spPr>
          <a:xfrm>
            <a:off x="4640581" y="2489200"/>
            <a:ext cx="3636979" cy="756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body" idx="4"/>
          </p:nvPr>
        </p:nvSpPr>
        <p:spPr>
          <a:xfrm>
            <a:off x="4640581" y="3245835"/>
            <a:ext cx="3636980" cy="2773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3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3" name="Google Shape;93;p2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12" r="-16986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3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3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3"/>
            <p:cNvSpPr/>
            <p:nvPr/>
          </p:nvSpPr>
          <p:spPr>
            <a:xfrm rot="-5400000">
              <a:off x="2548536" y="1765596"/>
              <a:ext cx="5995993" cy="3326809"/>
            </a:xfrm>
            <a:custGeom>
              <a:avLst/>
              <a:gdLst/>
              <a:ahLst/>
              <a:cxnLst/>
              <a:rect l="l" t="t" r="r" b="b"/>
              <a:pathLst>
                <a:path w="4960" h="2752" extrusionOk="0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01" name="Google Shape;101;p23"/>
            <p:cNvSpPr/>
            <p:nvPr/>
          </p:nvSpPr>
          <p:spPr>
            <a:xfrm rot="-5912394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3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03" name="Google Shape;103;p23"/>
          <p:cNvSpPr txBox="1"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body" idx="1"/>
          </p:nvPr>
        </p:nvSpPr>
        <p:spPr>
          <a:xfrm>
            <a:off x="4568927" y="1447800"/>
            <a:ext cx="36328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body" idx="2"/>
          </p:nvPr>
        </p:nvSpPr>
        <p:spPr>
          <a:xfrm>
            <a:off x="866441" y="3086845"/>
            <a:ext cx="2712589" cy="2933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24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12" name="Google Shape;112;p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12" r="-16986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4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4"/>
            <p:cNvSpPr/>
            <p:nvPr/>
          </p:nvSpPr>
          <p:spPr>
            <a:xfrm rot="-5400000">
              <a:off x="2852610" y="1765596"/>
              <a:ext cx="5995993" cy="3326809"/>
            </a:xfrm>
            <a:custGeom>
              <a:avLst/>
              <a:gdLst/>
              <a:ahLst/>
              <a:cxnLst/>
              <a:rect l="l" t="t" r="r" b="b"/>
              <a:pathLst>
                <a:path w="4960" h="2752" extrusionOk="0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20" name="Google Shape;120;p24"/>
            <p:cNvSpPr/>
            <p:nvPr/>
          </p:nvSpPr>
          <p:spPr>
            <a:xfrm rot="-5912394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4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22" name="Google Shape;122;p24"/>
          <p:cNvSpPr txBox="1"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>
            <a:spLocks noGrp="1"/>
          </p:cNvSpPr>
          <p:nvPr>
            <p:ph type="pic" idx="2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24" name="Google Shape;124;p24"/>
          <p:cNvSpPr txBox="1">
            <a:spLocks noGrp="1"/>
          </p:cNvSpPr>
          <p:nvPr>
            <p:ph type="body" idx="1"/>
          </p:nvPr>
        </p:nvSpPr>
        <p:spPr>
          <a:xfrm>
            <a:off x="866440" y="3086100"/>
            <a:ext cx="2987089" cy="24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anoramic Picture with Caption">
  <p:cSld name="Panoramic Picture with Caption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2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1" name="Google Shape;131;p25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12" r="-16986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5"/>
            <p:cNvSpPr/>
            <p:nvPr/>
          </p:nvSpPr>
          <p:spPr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5"/>
            <p:cNvSpPr/>
            <p:nvPr/>
          </p:nvSpPr>
          <p:spPr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 extrusionOk="0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5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5"/>
          <p:cNvSpPr>
            <a:spLocks noGrp="1"/>
          </p:cNvSpPr>
          <p:nvPr>
            <p:ph type="pic" idx="2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43" name="Google Shape;143;p25"/>
          <p:cNvSpPr txBox="1">
            <a:spLocks noGrp="1"/>
          </p:cNvSpPr>
          <p:nvPr>
            <p:ph type="body" idx="1"/>
          </p:nvPr>
        </p:nvSpPr>
        <p:spPr>
          <a:xfrm>
            <a:off x="866440" y="5528192"/>
            <a:ext cx="6422004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5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aption">
  <p:cSld name="Title and Caption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2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50" name="Google Shape;150;p26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12" r="-16986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6"/>
            <p:cNvSpPr/>
            <p:nvPr/>
          </p:nvSpPr>
          <p:spPr>
            <a:xfrm rot="-589932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6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6"/>
            <p:cNvSpPr/>
            <p:nvPr/>
          </p:nvSpPr>
          <p:spPr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 extrusionOk="0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6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60" name="Google Shape;160;p26"/>
          <p:cNvSpPr txBox="1"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body" idx="1"/>
          </p:nvPr>
        </p:nvSpPr>
        <p:spPr>
          <a:xfrm>
            <a:off x="866440" y="3488023"/>
            <a:ext cx="6422005" cy="2536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62" name="Google Shape;162;p26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6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with Caption">
  <p:cSld name="Quote with Caption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2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68" name="Google Shape;168;p2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12" r="-16986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7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7"/>
            <p:cNvSpPr/>
            <p:nvPr/>
          </p:nvSpPr>
          <p:spPr>
            <a:xfrm rot="-589932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7"/>
            <p:cNvSpPr/>
            <p:nvPr/>
          </p:nvSpPr>
          <p:spPr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 extrusionOk="0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7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77" name="Google Shape;177;p27"/>
          <p:cNvSpPr txBox="1"/>
          <p:nvPr/>
        </p:nvSpPr>
        <p:spPr>
          <a:xfrm>
            <a:off x="647430" y="651690"/>
            <a:ext cx="601591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8000" b="0" i="0" u="none" strike="noStrike" cap="none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78" name="Google Shape;178;p27"/>
          <p:cNvSpPr txBox="1"/>
          <p:nvPr/>
        </p:nvSpPr>
        <p:spPr>
          <a:xfrm>
            <a:off x="7069418" y="2900292"/>
            <a:ext cx="619063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8000" b="0" i="0" u="none" strike="noStrike" cap="none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7"/>
          <p:cNvSpPr txBox="1">
            <a:spLocks noGrp="1"/>
          </p:cNvSpPr>
          <p:nvPr>
            <p:ph type="body" idx="1"/>
          </p:nvPr>
        </p:nvSpPr>
        <p:spPr>
          <a:xfrm>
            <a:off x="1387278" y="3809278"/>
            <a:ext cx="5646143" cy="33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 b="0" i="0" cap="small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81" name="Google Shape;181;p27"/>
          <p:cNvSpPr txBox="1">
            <a:spLocks noGrp="1"/>
          </p:cNvSpPr>
          <p:nvPr>
            <p:ph type="body" idx="2"/>
          </p:nvPr>
        </p:nvSpPr>
        <p:spPr>
          <a:xfrm>
            <a:off x="866440" y="5000816"/>
            <a:ext cx="6343673" cy="1010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82" name="Google Shape;182;p27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7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7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me Card">
  <p:cSld name="Name Card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88" name="Google Shape;188;p2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12" r="-16986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8"/>
            <p:cNvSpPr/>
            <p:nvPr/>
          </p:nvSpPr>
          <p:spPr>
            <a:xfrm rot="-589932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8"/>
            <p:cNvSpPr/>
            <p:nvPr/>
          </p:nvSpPr>
          <p:spPr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 extrusionOk="0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8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97" name="Google Shape;197;p28"/>
          <p:cNvSpPr txBox="1"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8"/>
          <p:cNvSpPr txBox="1"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28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8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9"/>
          <p:cNvSpPr txBox="1"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06" name="Google Shape;206;p29"/>
          <p:cNvSpPr txBox="1">
            <a:spLocks noGrp="1"/>
          </p:cNvSpPr>
          <p:nvPr>
            <p:ph type="body" idx="2"/>
          </p:nvPr>
        </p:nvSpPr>
        <p:spPr>
          <a:xfrm>
            <a:off x="866440" y="3147164"/>
            <a:ext cx="2313432" cy="2888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07" name="Google Shape;207;p29"/>
          <p:cNvSpPr txBox="1">
            <a:spLocks noGrp="1"/>
          </p:cNvSpPr>
          <p:nvPr>
            <p:ph type="body" idx="3"/>
          </p:nvPr>
        </p:nvSpPr>
        <p:spPr>
          <a:xfrm>
            <a:off x="3405614" y="2489200"/>
            <a:ext cx="2318918" cy="65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08" name="Google Shape;208;p29"/>
          <p:cNvSpPr txBox="1">
            <a:spLocks noGrp="1"/>
          </p:cNvSpPr>
          <p:nvPr>
            <p:ph type="body" idx="4"/>
          </p:nvPr>
        </p:nvSpPr>
        <p:spPr>
          <a:xfrm>
            <a:off x="3408471" y="3147164"/>
            <a:ext cx="2318918" cy="2888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09" name="Google Shape;209;p29"/>
          <p:cNvSpPr txBox="1">
            <a:spLocks noGrp="1"/>
          </p:cNvSpPr>
          <p:nvPr>
            <p:ph type="body" idx="5"/>
          </p:nvPr>
        </p:nvSpPr>
        <p:spPr>
          <a:xfrm>
            <a:off x="5958642" y="2489200"/>
            <a:ext cx="2318918" cy="65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0" name="Google Shape;210;p29"/>
          <p:cNvSpPr txBox="1">
            <a:spLocks noGrp="1"/>
          </p:cNvSpPr>
          <p:nvPr>
            <p:ph type="body" idx="6"/>
          </p:nvPr>
        </p:nvSpPr>
        <p:spPr>
          <a:xfrm>
            <a:off x="5960935" y="3147164"/>
            <a:ext cx="2316625" cy="2888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211" name="Google Shape;211;p29"/>
          <p:cNvCxnSpPr/>
          <p:nvPr/>
        </p:nvCxnSpPr>
        <p:spPr>
          <a:xfrm>
            <a:off x="3294530" y="2489201"/>
            <a:ext cx="0" cy="3546328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2" name="Google Shape;212;p29"/>
          <p:cNvCxnSpPr/>
          <p:nvPr/>
        </p:nvCxnSpPr>
        <p:spPr>
          <a:xfrm>
            <a:off x="5849521" y="2489201"/>
            <a:ext cx="0" cy="3546328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9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9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 txBox="1"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30"/>
          <p:cNvSpPr txBox="1"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9" name="Google Shape;219;p30"/>
          <p:cNvSpPr>
            <a:spLocks noGrp="1"/>
          </p:cNvSpPr>
          <p:nvPr>
            <p:ph type="pic" idx="2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220" name="Google Shape;220;p30"/>
          <p:cNvSpPr txBox="1">
            <a:spLocks noGrp="1"/>
          </p:cNvSpPr>
          <p:nvPr>
            <p:ph type="body" idx="3"/>
          </p:nvPr>
        </p:nvSpPr>
        <p:spPr>
          <a:xfrm>
            <a:off x="866439" y="4837558"/>
            <a:ext cx="2313432" cy="1187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21" name="Google Shape;221;p30"/>
          <p:cNvSpPr txBox="1">
            <a:spLocks noGrp="1"/>
          </p:cNvSpPr>
          <p:nvPr>
            <p:ph type="body" idx="4"/>
          </p:nvPr>
        </p:nvSpPr>
        <p:spPr>
          <a:xfrm>
            <a:off x="3411125" y="4179595"/>
            <a:ext cx="2318918" cy="65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22" name="Google Shape;222;p30"/>
          <p:cNvSpPr>
            <a:spLocks noGrp="1"/>
          </p:cNvSpPr>
          <p:nvPr>
            <p:ph type="pic" idx="5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223" name="Google Shape;223;p30"/>
          <p:cNvSpPr txBox="1">
            <a:spLocks noGrp="1"/>
          </p:cNvSpPr>
          <p:nvPr>
            <p:ph type="body" idx="6"/>
          </p:nvPr>
        </p:nvSpPr>
        <p:spPr>
          <a:xfrm>
            <a:off x="3411125" y="4848208"/>
            <a:ext cx="2318918" cy="1187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24" name="Google Shape;224;p30"/>
          <p:cNvSpPr txBox="1">
            <a:spLocks noGrp="1"/>
          </p:cNvSpPr>
          <p:nvPr>
            <p:ph type="body" idx="7"/>
          </p:nvPr>
        </p:nvSpPr>
        <p:spPr>
          <a:xfrm>
            <a:off x="5958642" y="4179596"/>
            <a:ext cx="2318918" cy="65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25" name="Google Shape;225;p30"/>
          <p:cNvSpPr>
            <a:spLocks noGrp="1"/>
          </p:cNvSpPr>
          <p:nvPr>
            <p:ph type="pic" idx="8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226" name="Google Shape;226;p30"/>
          <p:cNvSpPr txBox="1">
            <a:spLocks noGrp="1"/>
          </p:cNvSpPr>
          <p:nvPr>
            <p:ph type="body" idx="9"/>
          </p:nvPr>
        </p:nvSpPr>
        <p:spPr>
          <a:xfrm>
            <a:off x="5958642" y="4837558"/>
            <a:ext cx="2318918" cy="1187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227" name="Google Shape;227;p30"/>
          <p:cNvCxnSpPr/>
          <p:nvPr/>
        </p:nvCxnSpPr>
        <p:spPr>
          <a:xfrm>
            <a:off x="3290019" y="2489201"/>
            <a:ext cx="0" cy="3546328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8" name="Google Shape;228;p30"/>
          <p:cNvCxnSpPr/>
          <p:nvPr/>
        </p:nvCxnSpPr>
        <p:spPr>
          <a:xfrm>
            <a:off x="5849521" y="2489201"/>
            <a:ext cx="0" cy="3546328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9" name="Google Shape;229;p30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30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 txBox="1"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31"/>
          <p:cNvSpPr txBox="1">
            <a:spLocks noGrp="1"/>
          </p:cNvSpPr>
          <p:nvPr>
            <p:ph type="body" idx="1"/>
          </p:nvPr>
        </p:nvSpPr>
        <p:spPr>
          <a:xfrm rot="5400000">
            <a:off x="2271712" y="1081870"/>
            <a:ext cx="3530600" cy="634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35" name="Google Shape;235;p31"/>
          <p:cNvSpPr txBox="1">
            <a:spLocks noGrp="1"/>
          </p:cNvSpPr>
          <p:nvPr>
            <p:ph type="dt" idx="10"/>
          </p:nvPr>
        </p:nvSpPr>
        <p:spPr>
          <a:xfrm>
            <a:off x="7621301" y="6387910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31"/>
          <p:cNvSpPr txBox="1">
            <a:spLocks noGrp="1"/>
          </p:cNvSpPr>
          <p:nvPr>
            <p:ph type="ftr" idx="11"/>
          </p:nvPr>
        </p:nvSpPr>
        <p:spPr>
          <a:xfrm>
            <a:off x="516133" y="6387910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31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32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240" name="Google Shape;240;p3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12" r="-16986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2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2"/>
            <p:cNvSpPr/>
            <p:nvPr/>
          </p:nvSpPr>
          <p:spPr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7" name="Google Shape;247;p32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2"/>
          <p:cNvSpPr/>
          <p:nvPr/>
        </p:nvSpPr>
        <p:spPr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l" t="t" r="r" b="b"/>
            <a:pathLst>
              <a:path w="4960" h="2752" extrusionOk="0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49" name="Google Shape;249;p3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5760" h="4320" extrusionOk="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0" name="Google Shape;250;p32"/>
          <p:cNvSpPr txBox="1">
            <a:spLocks noGrp="1"/>
          </p:cNvSpPr>
          <p:nvPr>
            <p:ph type="title"/>
          </p:nvPr>
        </p:nvSpPr>
        <p:spPr>
          <a:xfrm rot="5400000">
            <a:off x="4445686" y="3177042"/>
            <a:ext cx="4572001" cy="111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32"/>
          <p:cNvSpPr txBox="1">
            <a:spLocks noGrp="1"/>
          </p:cNvSpPr>
          <p:nvPr>
            <p:ph type="body" idx="1"/>
          </p:nvPr>
        </p:nvSpPr>
        <p:spPr>
          <a:xfrm rot="5400000">
            <a:off x="789205" y="1525332"/>
            <a:ext cx="4572001" cy="441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52" name="Google Shape;252;p32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2"/>
          <p:cNvSpPr txBox="1">
            <a:spLocks noGrp="1"/>
          </p:cNvSpPr>
          <p:nvPr>
            <p:ph type="ftr" idx="11"/>
          </p:nvPr>
        </p:nvSpPr>
        <p:spPr>
          <a:xfrm>
            <a:off x="538546" y="6365498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3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32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1" name="Google Shape;11;p15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l="-16712" r="-16986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15"/>
            <p:cNvSpPr/>
            <p:nvPr/>
          </p:nvSpPr>
          <p:spPr>
            <a:xfrm rot="-589932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15"/>
            <p:cNvSpPr/>
            <p:nvPr/>
          </p:nvSpPr>
          <p:spPr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l" t="t" r="r" b="b"/>
              <a:pathLst>
                <a:path w="4960" h="2752" extrusionOk="0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9" name="Google Shape;19;p15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0" name="Google Shape;20;p15"/>
          <p:cNvSpPr txBox="1"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4" name="Google Shape;24;p1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Shape 259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60" name="Google Shape;260;p1"/>
          <ns0:cNvSpPr txBox="1">
            <ns1:spLocks noGrp="1"/>
          </ns0:cNvSpPr>
          <ns0:nvPr>
            <ns0:ph type="ctrTitle"/>
          </ns0:nvPr>
        </ns0:nvSpPr>
        <ns0:spPr>
          <ns1:xfrm>
            <ns1:off x="1760937" y="1454465"/>
            <ns1:ext cx="5917679" cy="767687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91425" tIns="45700" rIns="91425" bIns="45700" anchor="b" anchorCtr="0">
            <ns1:noAutofit/>
          </ns1:bodyPr>
          <ns1:lstStyle/>
          <ns1:p>
            <ns1:pPr algn="ctr">
              <ns1:buSzPts val="3200"/>
            </ns1:pPr>
            <ns1:r>
              <ns1:rPr lang="en-MY" sz="2800" b="1">
                <ns1:solidFill>
                  <ns1:schemeClr val="bg1"/>
                </ns1:solidFill>
              </ns1:rPr>
              <ns1:t>Gadd Kaam – </ns1:t>
            </ns1:r>
            <ns1:r>
              <ns1:rPr lang="en-MY" sz="2800" b="1" err="1">
                <ns1:solidFill>
                  <ns1:schemeClr val="bg1"/>
                </ns1:solidFill>
              </ns1:rPr>
              <ns1:t>SkillSwap</ns1:t>
            </ns1:r>
            <ns1:r>
              <ns1:rPr lang="en-MY" sz="2800" b="1">
                <ns1:solidFill>
                  <ns1:schemeClr val="bg1"/>
                </ns1:solidFill>
              </ns1:rPr>
              <ns1:t> Pakistan</ns1:t>
            </ns1:r>
            <ns1:r>
              <ns1:rPr lang="en-MY" sz="3200"/>
              <ns1:t> </ns1:t>
            </ns1:r>
            <ns1:endParaRPr/>
          </ns1:p>
        </ns0:txBody>
      </ns0:sp>
      <ns0:sp>
        <ns0:nvSpPr>
          <ns0:cNvPr id="261" name="Google Shape;261;p1"/>
          <ns0:cNvSpPr txBox="1">
            <ns1:spLocks noGrp="1"/>
          </ns0:cNvSpPr>
          <ns0:nvPr>
            <ns0:ph type="subTitle" idx="1"/>
          </ns0:nvPr>
        </ns0:nvSpPr>
        <ns0:spPr>
          <ns1:xfrm>
            <ns1:off x="1530700" y="2289267"/>
            <ns1:ext cx="5917679" cy="1404855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91425" tIns="45700" rIns="91425" bIns="45700" anchor="t" anchorCtr="0">
            <ns1:normAutofit/>
          </ns1:bodyPr>
          <ns1:lstStyle/>
          <ns1:p>
            <ns1:pPr marL="0" lvl="0" indent="0" algn="ctr" rtl="0">
              <ns1:spcBef>
                <ns1:spcPts val="0"/>
              </ns1:spcBef>
              <ns1:spcAft>
                <ns1:spcPts val="0"/>
              </ns1:spcAft>
              <ns1:buSzPts val="1280"/>
              <ns1:buNone/>
            </ns1:pPr>
            <ns1:r>
              <ns1:rPr lang="en-MY" sz="1600" b="1"/>
              <ns1:t>PROJECT DEVELOPER: </ns1:t>
            </ns1:r>
            <ns1:endParaRPr/>
          </ns1:p>
          <ns1:p>
            <ns1:pPr marL="285750" indent="-285750" algn="ctr">
              <ns1:buSzPts val="1280"/>
              <ns1:buFont typeface="Arial"/>
              <ns1:buChar char="•"/>
            </ns1:pPr>
            <ns1:r>
              <ns1:rPr lang="en-MY" sz="1600"/>
              <ns1:t>Farmanullah Ansari (2k22/SWE/40)</ns1:t>
            </ns1:r>
            <ns1:endParaRPr/>
          </ns1:p>
          <ns1:p>
            <ns1:pPr marL="285750" lvl="0" indent="-285750" algn="ctr" rtl="0">
              <ns1:spcBef>
                <ns1:spcPts val="1000"/>
              </ns1:spcBef>
              <ns1:spcAft>
                <ns1:spcPts val="0"/>
              </ns1:spcAft>
              <ns1:buSzPts val="1280"/>
              <ns1:buFont typeface="Arial"/>
              <ns1:buChar char="•"/>
            </ns1:pPr>
            <ns1:endParaRPr lang="en-MY" sz="1600"/>
          </ns1:p>
        </ns0:txBody>
      </ns0:sp>
      <ns0:pic>
        <ns0:nvPicPr>
          <ns0:cNvPr id="262" name="Google Shape;262;p1"/>
          <ns0:cNvPicPr preferRelativeResize="0"/>
          <ns0:nvPr/>
        </ns0:nvPicPr>
        <ns0:blipFill rotWithShape="1">
          <ns1:blip ns2:embed="rId3">
            <ns1:alphaModFix/>
          </ns1:blip>
          <ns1:srcRect/>
          <ns1:stretch/>
        </ns0:blipFill>
        <ns0:spPr>
          <ns1:xfrm>
            <ns1:off x="97177" y="132693"/>
            <ns1:ext cx="3336246" cy="1112766"/>
          </ns1:xfrm>
          <ns1:prstGeom prst="rect">
            <ns1:avLst/>
          </ns1:prstGeom>
          <ns1:noFill/>
          <ns1:ln>
            <ns1:noFill/>
          </ns1:ln>
        </ns0:spPr>
      </ns0:pic>
      <ns0:sp>
        <ns0:nvSpPr>
          <ns0:cNvPr id="263" name="Google Shape;263;p1"/>
          <ns0:cNvSpPr txBox="1"/>
          <ns0:nvPr/>
        </ns0:nvSpPr>
        <ns0:spPr>
          <ns1:xfrm>
            <ns1:off x="1613159" y="4110716"/>
            <ns1:ext cx="5917679" cy="828719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91425" tIns="45700" rIns="91425" bIns="45700" anchor="t" anchorCtr="0">
            <ns1:normAutofit/>
          </ns1:bodyPr>
          <ns1:lstStyle/>
          <ns1:p>
            <ns1:pPr marL="0" marR="0" lvl="0" indent="0" algn="ctr" rtl="0">
              <ns1:spcBef>
                <ns1:spcPts val="0"/>
              </ns1:spcBef>
              <ns1:spcAft>
                <ns1:spcPts val="0"/>
              </ns1:spcAft>
              <ns1:buClr>
                <ns1:schemeClr val="accent1"/>
              </ns1:buClr>
              <ns1:buSzPts val="1120"/>
              <ns1:buFont typeface="Noto Sans Symbols"/>
              <ns1:buNone/>
            </ns1:pPr>
            <ns1:r>
              <ns1:rPr lang="en-MY" sz="1400" b="1" i="0" u="none" strike="noStrike" cap="none">
                <ns1:solidFill>
                  <ns1:srgbClr val="EE52A4"/>
                </ns1:solidFill>
                <ns1:latin typeface="Century Gothic"/>
                <ns1:ea typeface="Century Gothic"/>
                <ns1:cs typeface="Century Gothic"/>
                <ns1:sym typeface="Century Gothic"/>
              </ns1:rPr>
              <ns1:t>SUPERVISOR AND CO-SUPERVISOR</ns1:t>
            </ns1:r>
            <ns1:endParaRPr/>
          </ns1:p>
          <ns1:p>
            <ns1:pPr algn="ctr">
              <ns1:spcBef>
                <ns1:spcPts val="1000"/>
              </ns1:spcBef>
              <ns1:buClr>
                <ns1:schemeClr val="accent1"/>
              </ns1:buClr>
              <ns1:buSzPts val="1120"/>
            </ns1:pPr>
            <ns1:r>
              <ns1:rPr lang="en-MY">
                <ns1:solidFill>
                  <ns1:srgbClr val="EE52A4"/>
                </ns1:solidFill>
                <ns1:latin typeface="Century Gothic"/>
                <ns1:ea typeface="Century Gothic"/>
                <ns1:cs typeface="Century Gothic"/>
                <ns1:sym typeface="Century Gothic"/>
              </ns1:rPr>
              <ns1:t>Dr. Rahat Ali Khan,</ns1:t>
            </ns1:r>
            <ns1:r>
              <ns1:rPr lang="en-MY" sz="1400" b="0" i="0" u="none" strike="noStrike" cap="none">
                <ns1:solidFill>
                  <ns1:srgbClr val="EE52A4"/>
                </ns1:solidFill>
                <ns1:latin typeface="Century Gothic"/>
                <ns1:ea typeface="Century Gothic"/>
                <ns1:cs typeface="Century Gothic"/>
                <ns1:sym typeface="Century Gothic"/>
              </ns1:rPr>
              <ns1:t> </ns1:t>
            </ns1:r>
            <ns1:r>
              <ns1:rPr lang="en-MY">
                <ns1:solidFill>
                  <ns1:srgbClr val="EE52A4"/>
                </ns1:solidFill>
                <ns1:latin typeface="Century Gothic"/>
                <ns1:ea typeface="Century Gothic"/>
                <ns1:cs typeface="Century Gothic"/>
                <ns1:sym typeface="Century Gothic"/>
              </ns1:rPr>
              <ns1:t>Mohsin </ns1:t>
            </ns1:r>
            <ns1:r>
              <ns1:rPr lang="en-MY" err="1">
                <ns1:solidFill>
                  <ns1:srgbClr val="EE52A4"/>
                </ns1:solidFill>
                <ns1:latin typeface="Century Gothic"/>
                <ns1:ea typeface="Century Gothic"/>
                <ns1:cs typeface="Century Gothic"/>
                <ns1:sym typeface="Century Gothic"/>
              </ns1:rPr>
              <ns1:t>Jokhio</ns1:t>
            </ns1:r>
            <ns1:endParaRPr err="1"/>
          </ns1:p>
        </ns0:txBody>
      </ns0:sp>
      <ns0:sp>
        <ns0:nvSpPr>
          <ns0:cNvPr id="264" name="Google Shape;264;p1"/>
          <ns0:cNvSpPr txBox="1"/>
          <ns0:nvPr/>
        </ns0:nvSpPr>
        <ns0:spPr>
          <ns1:xfrm>
            <ns1:off x="1211821" y="5288916"/>
            <ns1:ext cx="6720357" cy="974263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91425" tIns="45700" rIns="91425" bIns="45700" anchor="t" anchorCtr="0">
            <ns1:normAutofit/>
          </ns1:bodyPr>
          <ns1:lstStyle/>
          <ns1:p>
            <ns1:pPr marL="0" marR="0" lvl="0" indent="0" algn="ctr" rtl="0">
              <ns1:spcBef>
                <ns1:spcPts val="0"/>
              </ns1:spcBef>
              <ns1:spcAft>
                <ns1:spcPts val="0"/>
              </ns1:spcAft>
              <ns1:buClr>
                <ns1:schemeClr val="accent1"/>
              </ns1:buClr>
              <ns1:buSzPts val="960"/>
              <ns1:buFont typeface="Noto Sans Symbols"/>
              <ns1:buNone/>
            </ns1:pPr>
            <ns1:r>
              <ns1:rPr lang="en-MY" sz="1200" b="0" i="0" u="none" strike="noStrike" cap="none">
                <ns1:solidFill>
                  <ns1:schemeClr val="lt1"/>
                </ns1:solidFill>
                <ns1:latin typeface="Century Gothic"/>
                <ns1:ea typeface="Century Gothic"/>
                <ns1:cs typeface="Century Gothic"/>
                <ns1:sym typeface="Century Gothic"/>
              </ns1:rPr>
              <ns1:t>DEPARTMENT OF SOFTWARE ENGINEERING, </ns1:t>
            </ns1:r>
            <ns1:endParaRPr/>
          </ns1:p>
          <ns1:p>
            <ns1:pPr marL="0" marR="0" lvl="0" indent="0" algn="ctr" rtl="0">
              <ns1:spcBef>
                <ns1:spcPts val="1000"/>
              </ns1:spcBef>
              <ns1:spcAft>
                <ns1:spcPts val="0"/>
              </ns1:spcAft>
              <ns1:buClr>
                <ns1:schemeClr val="accent1"/>
              </ns1:buClr>
              <ns1:buSzPts val="960"/>
              <ns1:buFont typeface="Noto Sans Symbols"/>
              <ns1:buNone/>
            </ns1:pPr>
            <ns1:r>
              <ns1:rPr lang="en-MY" sz="1200" b="0" i="0" u="none" strike="noStrike" cap="none">
                <ns1:solidFill>
                  <ns1:schemeClr val="lt1"/>
                </ns1:solidFill>
                <ns1:latin typeface="Century Gothic"/>
                <ns1:ea typeface="Century Gothic"/>
                <ns1:cs typeface="Century Gothic"/>
                <ns1:sym typeface="Century Gothic"/>
              </ns1:rPr>
              <ns1:t>FACULTY OF ENGINEERING AND TECHNOLOGY</ns1:t>
            </ns1:r>
            <ns1:endParaRPr/>
          </ns1:p>
          <ns1:p>
            <ns1:pPr marL="0" marR="0" lvl="0" indent="0" algn="ctr" rtl="0">
              <ns1:spcBef>
                <ns1:spcPts val="1000"/>
              </ns1:spcBef>
              <ns1:spcAft>
                <ns1:spcPts val="0"/>
              </ns1:spcAft>
              <ns1:buClr>
                <ns1:schemeClr val="accent1"/>
              </ns1:buClr>
              <ns1:buSzPts val="960"/>
              <ns1:buFont typeface="Noto Sans Symbols"/>
              <ns1:buNone/>
            </ns1:pPr>
            <ns1:r>
              <ns1:rPr lang="en-MY" sz="1200" b="0" i="0" u="none" strike="noStrike" cap="none">
                <ns1:solidFill>
                  <ns1:schemeClr val="lt1"/>
                </ns1:solidFill>
                <ns1:latin typeface="Century Gothic"/>
                <ns1:ea typeface="Century Gothic"/>
                <ns1:cs typeface="Century Gothic"/>
                <ns1:sym typeface="Century Gothic"/>
              </ns1:rPr>
              <ns1:t>UNIVERSITY OF SINDH, JAMSHORO</ns1:t>
            </ns1:r>
            <ns1:endParaRPr/>
          </ns1:p>
        </ns0:txBody>
      </ns0:sp>
      <ns0:sp>
        <ns0:nvSpPr>
          <ns0:cNvPr id="265" name="Google Shape;265;p1"/>
          <ns0:cNvSpPr txBox="1"/>
          <ns0:nvPr/>
        </ns0:nvSpPr>
        <ns0:spPr>
          <ns1:xfrm>
            <ns1:off x="596467" y="1303352"/>
            <ns1:ext cx="1659227" cy="56932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91425" tIns="45700" rIns="91425" bIns="45700" anchor="t" anchorCtr="0">
            <ns1:normAutofit lnSpcReduction="10000"/>
          </ns1:bodyPr>
          <ns1:lstStyle/>
          <ns1:p>
            <ns1:pPr marL="0" marR="0" lvl="0" indent="0" algn="ctr" rtl="0">
              <ns1:spcBef>
                <ns1:spcPts val="0"/>
              </ns1:spcBef>
              <ns1:spcAft>
                <ns1:spcPts val="0"/>
              </ns1:spcAft>
              <ns1:buClr>
                <ns1:schemeClr val="accent1"/>
              </ns1:buClr>
              <ns1:buSzPct val="80000"/>
              <ns1:buFont typeface="Noto Sans Symbols"/>
              <ns1:buNone/>
            </ns1:pPr>
            <ns1:r>
              <ns1:rPr lang="en-MY" sz="1600" b="0" i="0" u="none" strike="noStrike" cap="none">
                <ns1:solidFill>
                  <ns1:schemeClr val="lt1"/>
                </ns1:solidFill>
                <ns1:latin typeface="Century Gothic"/>
                <ns1:ea typeface="Century Gothic"/>
                <ns1:cs typeface="Century Gothic"/>
                <ns1:sym typeface="Century Gothic"/>
              </ns1:rPr>
              <ns1:t>PROJECT ID: </ns1:t>
            </ns1:r>
            <ns1:r>
              <ns1:rPr lang="en-MY" sz="1600">
                <ns1:solidFill>
                  <ns1:schemeClr val="lt1"/>
                </ns1:solidFill>
                <ns1:latin typeface="Century Gothic"/>
                <ns1:ea typeface="Century Gothic"/>
                <ns1:cs typeface="Century Gothic"/>
                <ns1:sym typeface="Century Gothic"/>
              </ns1:rPr>
              <ns1:t>2022-SWE-14</ns1:t>
            </ns1:r>
            <ns1:endParaRPr>
              <ns1:solidFill>
                <ns1:schemeClr val="lt1"/>
              </ns1:solidFill>
            </ns1:endParaRPr>
          </ns1:p>
        </ns0:txBody>
      </ns0:sp>
      <ns0:sp>
        <ns0:nvSpPr>
          <ns0:cNvPr id="266" name="Google Shape;266;p1"/>
          <ns0:cNvSpPr txBox="1">
            <ns1:spLocks noGrp="1"/>
          </ns0:cNvSpPr>
          <ns0:nvPr>
            <ns0:ph type="sldNum" idx="12"/>
          </ns0:nvPr>
        </ns0:nvSpPr>
        <ns0:spPr>
          <ns1:xfrm>
            <ns1:off x="7678616" y="295730"/>
            <ns1:ext cx="791308" cy="767687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91425" tIns="45700" rIns="91425" bIns="45700" anchor="b" anchorCtr="0">
            <ns1:noAutofit/>
          </ns1:bodyPr>
          <ns1:lstStyle/>
          <ns1:p>
            <ns1:pPr marL="0" lvl="0" indent="0" algn="ctr" rtl="0">
              <ns1:spcBef>
                <ns1:spcPts val="0"/>
              </ns1:spcBef>
              <ns1:spcAft>
                <ns1:spcPts val="0"/>
              </ns1:spcAft>
              <ns1:buNone/>
            </ns1:pPr>
            <ns1:fld id="{00000000-1234-1234-1234-123412341234}" type="slidenum">
              <ns1:rPr lang="en-MY"/>
              <ns1:t>1</ns1:t>
            </ns1:fld>
            <ns1:endParaRPr/>
          </ns1:p>
        </ns0:txBody>
      </ns0:sp>
      <ns0:pic>
        <ns0:nvPicPr>
          <ns0:cNvPr id="267" name="Google Shape;267;p1"/>
          <ns0:cNvPicPr preferRelativeResize="0"/>
          <ns0:nvPr/>
        </ns0:nvPicPr>
        <ns0:blipFill rotWithShape="1">
          <ns1:blip ns2:embed="rId4">
            <ns1:alphaModFix/>
          </ns1:blip>
          <ns1:srcRect/>
          <ns1:stretch/>
        </ns0:blipFill>
        <ns0:spPr>
          <ns1:xfrm>
            <ns1:off x="6658708" y="163569"/>
            <ns1:ext cx="1072662" cy="986998"/>
          </ns1:xfrm>
          <ns1:prstGeom prst="rect">
            <ns1:avLst/>
          </ns1:prstGeom>
          <ns1:noFill/>
          <ns1:ln>
            <ns1:noFill/>
          </ns1:ln>
        </ns0:spPr>
      </ns0:pic>
      <ns0:sp>
        <ns0:nvSpPr>
          <ns0:cNvPr id="268" name="Google Shape;268;p1"/>
          <ns0:cNvSpPr txBox="1"/>
          <ns0:nvPr/>
        </ns0:nvSpPr>
        <ns0:spPr>
          <ns1:xfrm>
            <ns1:off x="3676087" y="690280"/>
            <ns1:ext cx="2892664" cy="897732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91425" tIns="45700" rIns="91425" bIns="45700" anchor="t" anchorCtr="0">
            <ns1:normAutofit fontScale="92500" lnSpcReduction="10000"/>
          </ns1:bodyPr>
          <ns1:lstStyle/>
          <ns1:p>
            <ns1:pPr marL="0" marR="0" lvl="0" indent="0" algn="ctr" rtl="0">
              <ns1:spcBef>
                <ns1:spcPts val="0"/>
              </ns1:spcBef>
              <ns1:spcAft>
                <ns1:spcPts val="0"/>
              </ns1:spcAft>
              <ns1:buClr>
                <ns1:schemeClr val="accent1"/>
              </ns1:buClr>
              <ns1:buSzPct val="80000"/>
              <ns1:buFont typeface="Noto Sans Symbols"/>
              <ns1:buNone/>
            </ns1:pPr>
            <ns1:r>
              <ns1:rPr lang="en-MY" sz="1600" b="1" i="0" u="none" strike="noStrike" cap="none">
                <ns1:solidFill>
                  <ns1:schemeClr val="lt1"/>
                </ns1:solidFill>
                <ns1:latin typeface="Century Gothic"/>
                <ns1:ea typeface="Century Gothic"/>
                <ns1:cs typeface="Century Gothic"/>
                <ns1:sym typeface="Century Gothic"/>
              </ns1:rPr>
              <ns1:t>FINAL YEAR PROJECTS  SESSION </ns1:t>
            </ns1:r>
            <ns1:r>
              <ns1:rPr lang="en-MY" sz="1600" b="1">
                <ns1:solidFill>
                  <ns1:schemeClr val="lt1"/>
                </ns1:solidFill>
                <ns1:latin typeface="Century Gothic"/>
                <ns1:ea typeface="Century Gothic"/>
                <ns1:cs typeface="Century Gothic"/>
                <ns1:sym typeface="Century Gothic"/>
              </ns1:rPr>
              <ns1:t>2025</ns1:t>
            </ns1:r>
            <ns1:endParaRPr/>
          </ns1:p>
          <ns1:p>
            <ns1:pPr marL="0" marR="0" lvl="0" indent="0" algn="ctr" rtl="0">
              <ns1:spcBef>
                <ns1:spcPts val="1000"/>
              </ns1:spcBef>
              <ns1:spcAft>
                <ns1:spcPts val="0"/>
              </ns1:spcAft>
              <ns1:buClr>
                <ns1:schemeClr val="accent1"/>
              </ns1:buClr>
              <ns1:buSzPct val="80000"/>
              <ns1:buFont typeface="Noto Sans Symbols"/>
              <ns1:buNone/>
            </ns1:pPr>
            <ns1:r>
              <ns1:rPr lang="en-MY" sz="1600" b="1" i="0" u="none" strike="noStrike" cap="none">
                <ns1:solidFill>
                  <ns1:schemeClr val="lt1"/>
                </ns1:solidFill>
                <ns1:latin typeface="Century Gothic"/>
                <ns1:ea typeface="Century Gothic"/>
                <ns1:cs typeface="Century Gothic"/>
                <ns1:sym typeface="Century Gothic"/>
              </ns1:rPr>
              <ns1:t>FINAL PRESENTATION </ns1:t>
            </ns1:r>
            <ns1:endParaRPr sz="1600" b="1" i="0" u="none" strike="noStrike" cap="none">
              <ns1:solidFill>
                <ns1:schemeClr val="lt1"/>
              </ns1:solidFill>
              <ns1:latin typeface="Century Gothic"/>
              <ns1:ea typeface="Century Gothic"/>
              <ns1:cs typeface="Century Gothic"/>
              <ns1:sym typeface="Century Gothic"/>
            </ns1:endParaRPr>
          </ns1:p>
        </ns0:txBody>
      </ns0:sp>
    </ns0:spTree>
  </ns0:cSld>
  <ns0:clrMapOvr>
    <ns1:masterClrMapping/>
  </ns0:clrMapOvr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MY"/>
              <a:t>Contents </a:t>
            </a:r>
            <a:endParaRPr/>
          </a:p>
        </p:txBody>
      </p:sp>
      <p:sp>
        <p:nvSpPr>
          <p:cNvPr id="274" name="Google Shape;274;p2"/>
          <p:cNvSpPr txBox="1">
            <a:spLocks noGrp="1"/>
          </p:cNvSpPr>
          <p:nvPr>
            <p:ph type="body" idx="1"/>
          </p:nvPr>
        </p:nvSpPr>
        <p:spPr>
          <a:xfrm>
            <a:off x="-590" y="2283255"/>
            <a:ext cx="9146123" cy="457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ct val="79999"/>
              <a:buChar char="►"/>
            </a:pPr>
            <a:r>
              <a:rPr lang="en-MY"/>
              <a:t>Introduction of Project</a:t>
            </a:r>
            <a:endParaRPr lang="en-US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n-MY"/>
              <a:t>Aims and Objectives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n-MY"/>
              <a:t>Scope of Project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n-MY"/>
              <a:t>Tools and Technologies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n-MY"/>
              <a:t>Development Methodology</a:t>
            </a:r>
            <a:endParaRPr/>
          </a:p>
          <a:p>
            <a:pPr marL="342900" indent="-342900">
              <a:buSzPct val="79999"/>
            </a:pPr>
            <a:r>
              <a:rPr lang="en-MY"/>
              <a:t>System diagrams</a:t>
            </a:r>
          </a:p>
          <a:p>
            <a:pPr marL="342900" indent="-342900">
              <a:buSzPct val="79999"/>
            </a:pPr>
            <a:r>
              <a:rPr lang="en-MY" sz="1700"/>
              <a:t>System prototype / implementations screenshots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n-MY"/>
              <a:t>Conclusion and Future Work</a:t>
            </a:r>
            <a:endParaRPr/>
          </a:p>
          <a:p>
            <a:pPr marL="342900" lvl="0" indent="-257810" algn="l" rtl="0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endParaRPr lang="en-MY"/>
          </a:p>
        </p:txBody>
      </p:sp>
      <p:sp>
        <p:nvSpPr>
          <p:cNvPr id="275" name="Google Shape;275;p2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MY"/>
              <a:t>Introduction of Project</a:t>
            </a:r>
            <a:endParaRPr/>
          </a:p>
        </p:txBody>
      </p:sp>
      <p:sp>
        <p:nvSpPr>
          <p:cNvPr id="281" name="Google Shape;281;p3"/>
          <p:cNvSpPr txBox="1">
            <a:spLocks noGrp="1"/>
          </p:cNvSpPr>
          <p:nvPr>
            <p:ph type="body" idx="1"/>
          </p:nvPr>
        </p:nvSpPr>
        <p:spPr>
          <a:xfrm>
            <a:off x="-590" y="2200876"/>
            <a:ext cx="9146123" cy="4653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MY"/>
              <a:t>Gadd Kaam is a </a:t>
            </a:r>
            <a:r>
              <a:rPr lang="en-MY" b="1"/>
              <a:t>web-based skill exchange platform</a:t>
            </a:r>
            <a:r>
              <a:rPr lang="en-MY"/>
              <a:t> designed for rural and underserved communities in Pakistan.</a:t>
            </a:r>
            <a:br>
              <a:rPr lang="en-MY"/>
            </a:br>
            <a:r>
              <a:rPr lang="en-MY"/>
              <a:t> Instead of relying on money, users can </a:t>
            </a:r>
            <a:r>
              <a:rPr lang="en-MY" b="1"/>
              <a:t>swap skills</a:t>
            </a:r>
            <a:r>
              <a:rPr lang="en-MY"/>
              <a:t>—for example, tailoring in exchange for tutoring, or web development in exchange for tractor repair.</a:t>
            </a:r>
            <a:endParaRPr lang="en-US"/>
          </a:p>
          <a:p>
            <a:r>
              <a:rPr lang="en-MY"/>
              <a:t>The platform supports:</a:t>
            </a:r>
          </a:p>
          <a:p>
            <a:r>
              <a:rPr lang="en-MY" b="1"/>
              <a:t>Multilingual access</a:t>
            </a:r>
            <a:r>
              <a:rPr lang="en-MY"/>
              <a:t> (Sindhi, Urdu, and English).</a:t>
            </a:r>
          </a:p>
          <a:p>
            <a:r>
              <a:rPr lang="en-MY" b="1"/>
              <a:t>Safe zones</a:t>
            </a:r>
            <a:r>
              <a:rPr lang="en-MY"/>
              <a:t> for women to exchange skills in a protected environment.</a:t>
            </a:r>
          </a:p>
          <a:p>
            <a:r>
              <a:rPr lang="en-MY"/>
              <a:t>By removing barriers such as English literacy, digital payments, and urban focus, Gadd Kaam provides </a:t>
            </a:r>
            <a:r>
              <a:rPr lang="en-MY" b="1"/>
              <a:t>inclusive access</a:t>
            </a:r>
            <a:r>
              <a:rPr lang="en-MY"/>
              <a:t> to economic and social opportunities in Pakistan’s rural regions.</a:t>
            </a:r>
          </a:p>
          <a:p>
            <a:pPr marL="342900" lvl="0" indent="-34290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endParaRPr lang="en-MY"/>
          </a:p>
        </p:txBody>
      </p:sp>
      <p:sp>
        <p:nvSpPr>
          <p:cNvPr id="282" name="Google Shape;282;p3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MY"/>
              <a:t>Aims and Objectives</a:t>
            </a:r>
            <a:endParaRPr/>
          </a:p>
        </p:txBody>
      </p:sp>
      <p:sp>
        <p:nvSpPr>
          <p:cNvPr id="295" name="Google Shape;295;p5"/>
          <p:cNvSpPr txBox="1">
            <a:spLocks noGrp="1"/>
          </p:cNvSpPr>
          <p:nvPr>
            <p:ph type="body" idx="1"/>
          </p:nvPr>
        </p:nvSpPr>
        <p:spPr>
          <a:xfrm>
            <a:off x="-590" y="2128795"/>
            <a:ext cx="9146123" cy="472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b="1"/>
              <a:t>Aim</a:t>
            </a:r>
            <a:endParaRPr lang="en-US"/>
          </a:p>
          <a:p>
            <a:pPr>
              <a:buNone/>
            </a:pPr>
            <a:r>
              <a:rPr lang="en-US"/>
              <a:t>To build a </a:t>
            </a:r>
            <a:r>
              <a:rPr lang="en-US" b="1"/>
              <a:t>trusted, inclusive, and multilingual skill-exchange platform</a:t>
            </a:r>
            <a:r>
              <a:rPr lang="en-US"/>
              <a:t> that enables rural communities in Pakistan to share and swap skills without money.</a:t>
            </a:r>
          </a:p>
          <a:p>
            <a:pPr>
              <a:buNone/>
            </a:pPr>
            <a:r>
              <a:rPr lang="en-US" b="1"/>
              <a:t>Objectives</a:t>
            </a:r>
            <a:endParaRPr lang="en-US"/>
          </a:p>
          <a:p>
            <a:pPr marL="285750" indent="-285750"/>
            <a:r>
              <a:rPr lang="en-US" b="1"/>
              <a:t>Multilingual Support</a:t>
            </a:r>
            <a:r>
              <a:rPr lang="en-US"/>
              <a:t> – Build interfaces in Urdu &amp; Sindhi with voice navigation for low-literate users.</a:t>
            </a:r>
          </a:p>
          <a:p>
            <a:pPr marL="285750" indent="-285750"/>
            <a:r>
              <a:rPr lang="en-US" b="1"/>
              <a:t>Skill Exchange Mechanism</a:t>
            </a:r>
            <a:r>
              <a:rPr lang="en-US"/>
              <a:t> – Develop a barter system where users exchange services instead of money.</a:t>
            </a:r>
          </a:p>
          <a:p>
            <a:pPr marL="285750" indent="-285750"/>
            <a:r>
              <a:rPr lang="en-US" b="1"/>
              <a:t>Skill Verification</a:t>
            </a:r>
            <a:r>
              <a:rPr lang="en-US"/>
              <a:t> – Partner with local leaders &amp; NGOs to validate user skills with badges.</a:t>
            </a:r>
          </a:p>
          <a:p>
            <a:pPr marL="285750" indent="-285750"/>
            <a:r>
              <a:rPr lang="en-US" b="1"/>
              <a:t>Gender-Specific Features</a:t>
            </a:r>
            <a:r>
              <a:rPr lang="en-US"/>
              <a:t> – Safe zones and anonymous listings for women.</a:t>
            </a:r>
          </a:p>
          <a:p>
            <a:pPr marL="342900" indent="-250825"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296" name="Google Shape;296;p5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>
                <a:solidFill>
                  <a:schemeClr val="bg1"/>
                </a:solidFill>
              </a:rPr>
              <a:t>Scope of Project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302" name="Google Shape;302;p6"/>
          <p:cNvSpPr txBox="1">
            <a:spLocks noGrp="1"/>
          </p:cNvSpPr>
          <p:nvPr>
            <p:ph type="body" idx="1"/>
          </p:nvPr>
        </p:nvSpPr>
        <p:spPr>
          <a:xfrm>
            <a:off x="-591" y="2180282"/>
            <a:ext cx="9156422" cy="467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/>
              <a:t>Initially limited to </a:t>
            </a:r>
            <a:r>
              <a:rPr lang="en-US" b="1"/>
              <a:t>University of Sindh students and surrounding rural communities</a:t>
            </a:r>
            <a:r>
              <a:rPr lang="en-US"/>
              <a:t>, the platform will:</a:t>
            </a:r>
            <a:endParaRPr lang="en-US" b="1"/>
          </a:p>
          <a:p>
            <a:pPr marL="285750" indent="-285750"/>
            <a:r>
              <a:rPr lang="en-US"/>
              <a:t>Focus on </a:t>
            </a:r>
            <a:r>
              <a:rPr lang="en-US" b="1"/>
              <a:t>peer-to-peer skill swaps</a:t>
            </a:r>
            <a:r>
              <a:rPr lang="en-US"/>
              <a:t> (web development, tailoring, electronics, agriculture, tutoring, etc.).</a:t>
            </a:r>
          </a:p>
          <a:p>
            <a:pPr marL="285750" indent="-285750"/>
            <a:r>
              <a:rPr lang="en-US"/>
              <a:t>Be accessible in </a:t>
            </a:r>
            <a:r>
              <a:rPr lang="en-US" b="1"/>
              <a:t>Sindhi, Urdu, and English</a:t>
            </a:r>
            <a:r>
              <a:rPr lang="en-US"/>
              <a:t>.</a:t>
            </a:r>
          </a:p>
          <a:p>
            <a:pPr marL="285750" indent="-285750"/>
            <a:r>
              <a:rPr lang="en-US"/>
              <a:t>Include </a:t>
            </a:r>
            <a:r>
              <a:rPr lang="en-US" b="1"/>
              <a:t>skill verification</a:t>
            </a:r>
            <a:r>
              <a:rPr lang="en-US"/>
              <a:t>, and </a:t>
            </a:r>
            <a:r>
              <a:rPr lang="en-US" b="1"/>
              <a:t>safe spaces for women</a:t>
            </a:r>
            <a:r>
              <a:rPr lang="en-US"/>
              <a:t>.</a:t>
            </a:r>
          </a:p>
          <a:p>
            <a:pPr marL="285750" indent="-285750"/>
            <a:r>
              <a:rPr lang="en-US"/>
              <a:t>Designed to work smoothly on standard </a:t>
            </a:r>
            <a:r>
              <a:rPr lang="en-US" b="1"/>
              <a:t>web browsers,</a:t>
            </a:r>
            <a:r>
              <a:rPr lang="en-US"/>
              <a:t> ensuring easy access for users across devices.</a:t>
            </a:r>
            <a:br>
              <a:rPr lang="en-US"/>
            </a:br>
            <a:r>
              <a:rPr lang="en-US"/>
              <a:t>👉 </a:t>
            </a:r>
            <a:r>
              <a:rPr lang="en-US" b="1"/>
              <a:t>Future Expansion</a:t>
            </a:r>
            <a:r>
              <a:rPr lang="en-US"/>
              <a:t>: Broader rural Pakistan with mobile app and integration with </a:t>
            </a:r>
            <a:r>
              <a:rPr lang="en-US" b="1" err="1"/>
              <a:t>JazzCash</a:t>
            </a:r>
            <a:r>
              <a:rPr lang="en-US" b="1"/>
              <a:t>/</a:t>
            </a:r>
            <a:r>
              <a:rPr lang="en-US" b="1" err="1"/>
              <a:t>Easypaisa</a:t>
            </a:r>
            <a:r>
              <a:rPr lang="en-US"/>
              <a:t> for optional financial services.</a:t>
            </a:r>
          </a:p>
          <a:p>
            <a:pPr marL="342900" indent="-250825"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303" name="Google Shape;303;p6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7D007384-7286-91A3-E7D0-3A1A194CE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">
            <a:extLst>
              <a:ext uri="{FF2B5EF4-FFF2-40B4-BE49-F238E27FC236}">
                <a16:creationId xmlns:a16="http://schemas.microsoft.com/office/drawing/2014/main" id="{94BD70A8-892C-EAFA-6902-D9C7804A2A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MY"/>
              <a:t>Tools and Technologies</a:t>
            </a:r>
            <a:endParaRPr/>
          </a:p>
        </p:txBody>
      </p:sp>
      <p:sp>
        <p:nvSpPr>
          <p:cNvPr id="302" name="Google Shape;302;p6">
            <a:extLst>
              <a:ext uri="{FF2B5EF4-FFF2-40B4-BE49-F238E27FC236}">
                <a16:creationId xmlns:a16="http://schemas.microsoft.com/office/drawing/2014/main" id="{7F527238-6B6B-43DA-BCC5-2983A398A3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590" y="2375930"/>
            <a:ext cx="9146123" cy="447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/>
            <a:r>
              <a:rPr lang="en-US" b="1"/>
              <a:t>Frontend:</a:t>
            </a:r>
            <a:r>
              <a:rPr lang="en-US"/>
              <a:t> React.js + Vanilla CSS</a:t>
            </a:r>
          </a:p>
          <a:p>
            <a:pPr marL="285750" indent="-285750"/>
            <a:r>
              <a:rPr lang="en-US" b="1"/>
              <a:t>Backend:</a:t>
            </a:r>
            <a:r>
              <a:rPr lang="en-US"/>
              <a:t> Node.js + Express.js</a:t>
            </a:r>
          </a:p>
          <a:p>
            <a:pPr marL="285750" indent="-285750"/>
            <a:r>
              <a:rPr lang="en-US" b="1"/>
              <a:t>Database:</a:t>
            </a:r>
            <a:r>
              <a:rPr lang="en-US"/>
              <a:t> MongoDB</a:t>
            </a:r>
          </a:p>
          <a:p>
            <a:pPr marL="285750" indent="-285750"/>
            <a:r>
              <a:rPr lang="en-US" b="1"/>
              <a:t>Other Tools:</a:t>
            </a:r>
            <a:r>
              <a:rPr lang="en-US"/>
              <a:t> </a:t>
            </a:r>
            <a:r>
              <a:rPr lang="en-US" err="1"/>
              <a:t>GitHub,</a:t>
            </a:r>
            <a:r>
              <a:rPr lang="en-US" err="1">
                <a:solidFill>
                  <a:srgbClr val="000000"/>
                </a:solidFill>
                <a:cs typeface="Arial"/>
              </a:rPr>
              <a:t>Visual</a:t>
            </a:r>
            <a:r>
              <a:rPr lang="en-US">
                <a:solidFill>
                  <a:srgbClr val="000000"/>
                </a:solidFill>
                <a:cs typeface="Arial"/>
              </a:rPr>
              <a:t> Studio Code</a:t>
            </a:r>
          </a:p>
          <a:p>
            <a:pPr marL="285750" indent="-285750"/>
            <a:endParaRPr lang="en-US"/>
          </a:p>
        </p:txBody>
      </p:sp>
      <p:sp>
        <p:nvSpPr>
          <p:cNvPr id="303" name="Google Shape;303;p6">
            <a:extLst>
              <a:ext uri="{FF2B5EF4-FFF2-40B4-BE49-F238E27FC236}">
                <a16:creationId xmlns:a16="http://schemas.microsoft.com/office/drawing/2014/main" id="{82C4F81F-26D1-E967-2D41-B5DBEEA4C5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0932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812646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>
                <a:solidFill>
                  <a:schemeClr val="bg1"/>
                </a:solidFill>
              </a:rPr>
              <a:t>Development Methodology</a:t>
            </a:r>
          </a:p>
        </p:txBody>
      </p:sp>
      <p:sp>
        <p:nvSpPr>
          <p:cNvPr id="309" name="Google Shape;309;p7"/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r>
              <a:rPr lang="en-US"/>
              <a:t> </a:t>
            </a:r>
          </a:p>
        </p:txBody>
      </p:sp>
      <p:sp>
        <p:nvSpPr>
          <p:cNvPr id="310" name="Google Shape;310;p7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7</a:t>
            </a:fld>
            <a:endParaRPr/>
          </a:p>
        </p:txBody>
      </p:sp>
      <p:pic>
        <p:nvPicPr>
          <p:cNvPr id="2" name="Picture 1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CB68D910-4176-024F-1639-CCC395065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135" y="1714868"/>
            <a:ext cx="5045307" cy="49636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7A05C3E5-1C83-F1EA-9D7A-EA6B05E4F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">
            <a:extLst>
              <a:ext uri="{FF2B5EF4-FFF2-40B4-BE49-F238E27FC236}">
                <a16:creationId xmlns:a16="http://schemas.microsoft.com/office/drawing/2014/main" id="{560D5278-4D95-DB13-9970-8DD93E2FA5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812646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bg1"/>
                </a:solidFill>
              </a:rPr>
              <a:t>System diagrams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09" name="Google Shape;309;p7">
            <a:extLst>
              <a:ext uri="{FF2B5EF4-FFF2-40B4-BE49-F238E27FC236}">
                <a16:creationId xmlns:a16="http://schemas.microsoft.com/office/drawing/2014/main" id="{550F3874-B301-2B09-32DF-FE287DE21E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r>
              <a:rPr lang="en-US"/>
              <a:t> </a:t>
            </a:r>
          </a:p>
        </p:txBody>
      </p:sp>
      <p:sp>
        <p:nvSpPr>
          <p:cNvPr id="310" name="Google Shape;310;p7">
            <a:extLst>
              <a:ext uri="{FF2B5EF4-FFF2-40B4-BE49-F238E27FC236}">
                <a16:creationId xmlns:a16="http://schemas.microsoft.com/office/drawing/2014/main" id="{0760D29D-CD9D-F28A-3208-A490246B4A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8</a:t>
            </a:fld>
            <a:endParaRPr/>
          </a:p>
        </p:txBody>
      </p:sp>
      <p:pic>
        <p:nvPicPr>
          <p:cNvPr id="2" name="Picture 1" descr="A screenshot of a diagram&#10;&#10;AI-generated content may be incorrect.">
            <a:extLst>
              <a:ext uri="{FF2B5EF4-FFF2-40B4-BE49-F238E27FC236}">
                <a16:creationId xmlns:a16="http://schemas.microsoft.com/office/drawing/2014/main" id="{8A90D128-87E8-D551-0C2D-BDA503DD7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351" y="1637270"/>
            <a:ext cx="5303109" cy="5241325"/>
          </a:xfrm>
          <a:prstGeom prst="rect">
            <a:avLst/>
          </a:prstGeom>
          <a:effectLst>
            <a:outerShdw blurRad="50800" dist="38100" dir="270000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3561893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400">
                <a:solidFill>
                  <a:schemeClr val="bg1"/>
                </a:solidFill>
              </a:rPr>
              <a:t>System Prototype : Signup Page</a:t>
            </a:r>
          </a:p>
        </p:txBody>
      </p:sp>
      <p:sp>
        <p:nvSpPr>
          <p:cNvPr id="323" name="Google Shape;323;p9"/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endParaRPr lang="en-US" sz="1700"/>
          </a:p>
        </p:txBody>
      </p:sp>
      <p:sp>
        <p:nvSpPr>
          <p:cNvPr id="324" name="Google Shape;324;p9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9</a:t>
            </a:fld>
            <a:endParaRPr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A33FE8-4912-4CE5-96D2-498200DC3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162" y="1630272"/>
            <a:ext cx="6519311" cy="52201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38180ED5-C41E-39A5-CF9A-77093283A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A2FC516A-E580-FF49-12F0-1AF49E588B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400">
                <a:solidFill>
                  <a:schemeClr val="bg1"/>
                </a:solidFill>
              </a:rPr>
              <a:t>System Prototype : Login Page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77F24C27-FFC7-127A-3213-2D45B20F57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51459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406E884B-A65A-E3DD-FF12-8962104EA9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10</a:t>
            </a:fld>
            <a:endParaRPr/>
          </a:p>
        </p:txBody>
      </p:sp>
      <p:pic>
        <p:nvPicPr>
          <p:cNvPr id="2" name="Picture 1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C376CB81-08A5-C1F3-2FC1-0DF141B44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17786"/>
            <a:ext cx="9051324" cy="452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887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61778F6C-DEB0-34A5-7133-F856D0FC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DF926CD2-CF37-69F9-A262-49F8275B09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400">
                <a:solidFill>
                  <a:schemeClr val="bg1"/>
                </a:solidFill>
              </a:rPr>
              <a:t>System Prototype : Home Page (Light)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956EBE70-CAD9-B8B2-1CF8-3AA44CE665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51459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518E9375-6F57-1FBE-DF8A-FCB1712814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11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CDA8DB-418C-9CAE-872E-8E6FB1728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77" y="1628843"/>
            <a:ext cx="8470447" cy="523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90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6DD7DDC1-D306-821C-6EBB-8A0AE6983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F73C6AF4-2F11-526A-DF40-A324D37B56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400">
                <a:solidFill>
                  <a:schemeClr val="bg1"/>
                </a:solidFill>
              </a:rPr>
              <a:t>System Prototype : User Dashboard (Dark)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76CC2164-D9F6-8DB5-5555-A3D9B0A628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51459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7839AB92-4C01-2A64-63C0-A8D8AAB78D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12</a:t>
            </a:fld>
            <a:endParaRPr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AD2FEE-8126-C852-F379-A840E86D3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76" y="1641101"/>
            <a:ext cx="7856157" cy="521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283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B453AC9F-2275-5403-6B76-2B57DFA65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02950759-437B-4398-E87F-62F8C633E7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400">
                <a:solidFill>
                  <a:schemeClr val="bg1"/>
                </a:solidFill>
              </a:rPr>
              <a:t>System Prototype : Home Page (Urdu)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E134031F-C3D4-BF93-DDD7-2FAD86BA1B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51459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055F56F9-5040-EF31-88DF-C7A3DAD010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13</a:t>
            </a:fld>
            <a:endParaRPr/>
          </a:p>
        </p:txBody>
      </p:sp>
      <p:pic>
        <p:nvPicPr>
          <p:cNvPr id="2" name="Picture 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76F20E3-ED0C-6137-A1F1-64C28D535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47" y="1628843"/>
            <a:ext cx="7969506" cy="523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7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F46B6C3C-02AB-CA3F-555D-5675DA132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13523998-F2D3-7B5B-3EDE-F0DC70201A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400">
                <a:solidFill>
                  <a:schemeClr val="bg1"/>
                </a:solidFill>
              </a:rPr>
              <a:t>System Prototype : Home Page (Sindhi)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BAFC790F-16BD-6D2E-F478-A599666352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51459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8C044610-6DBA-1541-F150-FBA6DBABC2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14</a:t>
            </a:fld>
            <a:endParaRPr/>
          </a:p>
        </p:txBody>
      </p:sp>
      <p:pic>
        <p:nvPicPr>
          <p:cNvPr id="2" name="Picture 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B43E633-FDCA-267E-9D5C-C843F9892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66" y="1631719"/>
            <a:ext cx="8041587" cy="521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483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7B46EF89-49C1-175E-BA75-A4BB66B4E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1188CEF8-2BC1-79AA-9678-F7972F936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400">
                <a:solidFill>
                  <a:schemeClr val="bg1"/>
                </a:solidFill>
              </a:rPr>
              <a:t>System Prototype : Home Page (helpline)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7946C8E3-8840-A00E-F666-2ACB082996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51459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99B7C041-6F6E-8EB1-F5F3-EABD10F04A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15</a:t>
            </a:fld>
            <a:endParaRPr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C17FF3-B2CE-B532-4E62-EEB01797F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52" y="1662610"/>
            <a:ext cx="7959296" cy="516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7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A4E20B30-DC1D-69A9-F1A8-4A81BF467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E64C4189-C232-D48E-EC0D-77A62B2E80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400">
                <a:solidFill>
                  <a:schemeClr val="bg1"/>
                </a:solidFill>
              </a:rPr>
              <a:t>System Prototype : Offer Skill Page(Step 1)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72496D67-DE96-EA9E-BB80-2387143186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51459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3132F307-6392-1A54-1144-7AFBC531F2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16</a:t>
            </a:fld>
            <a:endParaRPr/>
          </a:p>
        </p:txBody>
      </p:sp>
      <p:pic>
        <p:nvPicPr>
          <p:cNvPr id="2" name="Picture 1" descr="A screenshot of a black and white website&#10;&#10;AI-generated content may be incorrect.">
            <a:extLst>
              <a:ext uri="{FF2B5EF4-FFF2-40B4-BE49-F238E27FC236}">
                <a16:creationId xmlns:a16="http://schemas.microsoft.com/office/drawing/2014/main" id="{86CF92C7-FC8C-4225-13BF-60BECB8D8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52" y="1943066"/>
            <a:ext cx="7959296" cy="460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276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A6D37A45-137F-D0E8-BA74-BE9B9391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42E9DC35-454D-E43E-C5B7-A16296C39D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400">
                <a:solidFill>
                  <a:schemeClr val="bg1"/>
                </a:solidFill>
              </a:rPr>
              <a:t>System Prototype : Offer Skill Page(Step 2)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CCC51F38-EF5C-01C1-09C6-01F0D5E84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r>
              <a:rPr lang="en-US"/>
              <a:t>  </a:t>
            </a:r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0453BA00-0277-052E-1A17-6C246E1939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17</a:t>
            </a:fld>
            <a:endParaRPr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1DAAA2-6AE8-F727-2978-4FE25D689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228" y="1472513"/>
            <a:ext cx="4869192" cy="538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89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CB8DC51C-5B97-1EB8-BEA0-2B8B90E5D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7D6361E7-92AF-032B-9F95-1CA47508A9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400">
                <a:solidFill>
                  <a:schemeClr val="bg1"/>
                </a:solidFill>
              </a:rPr>
              <a:t>System Prototype : Offer Skill Page(Step 3)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B79425EB-D456-86BF-D42B-0E3CA81427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F33B8803-E062-E8F0-E0BC-D7544A5001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18</a:t>
            </a:fld>
            <a:endParaRPr/>
          </a:p>
        </p:txBody>
      </p:sp>
      <p:pic>
        <p:nvPicPr>
          <p:cNvPr id="2" name="Picture 1" descr="A screenshot of a black and white website&#10;&#10;AI-generated content may be incorrect.">
            <a:extLst>
              <a:ext uri="{FF2B5EF4-FFF2-40B4-BE49-F238E27FC236}">
                <a16:creationId xmlns:a16="http://schemas.microsoft.com/office/drawing/2014/main" id="{5A277460-BB32-9811-970A-274A23ACB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5914"/>
            <a:ext cx="9051325" cy="513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692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C1F8AFFA-C8F6-326A-1621-90ED8C93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D8917822-FD71-38E9-91AD-440EB888ED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400">
                <a:solidFill>
                  <a:schemeClr val="bg1"/>
                </a:solidFill>
              </a:rPr>
              <a:t>System Prototype : Offer Skill Page(Step 4)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6E7BC54B-633D-1E0D-F99C-B748CAF819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4DAD0F32-6E14-045A-2FB4-FDC2E619AA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19</a:t>
            </a:fld>
            <a:endParaRPr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0C1146-3475-42AE-3A52-D55067060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78" y="1523999"/>
            <a:ext cx="4960618" cy="533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935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057E7CC1-B1BC-371A-0823-D6889D4C0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27365DEA-F6E2-638D-86C5-554EAB981F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400">
                <a:solidFill>
                  <a:schemeClr val="bg1"/>
                </a:solidFill>
              </a:rPr>
              <a:t>System Prototype : My Offered Skills Page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5BAEC98D-C82F-314A-2CF5-9830B04057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6BBB7C4D-DF7F-18B5-31A1-4F9DC21B3C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10AAD5-5773-9E68-ACD9-9884B77AF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78" y="1569206"/>
            <a:ext cx="4960618" cy="524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718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0DDEB1B8-D7D4-F9DA-2FFC-6F69D354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ECC85CFD-7D55-E955-9CCC-8CBE02E193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400">
                <a:solidFill>
                  <a:schemeClr val="bg1"/>
                </a:solidFill>
              </a:rPr>
              <a:t>System Prototype : Skill Marketplace Page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CE20EBB1-C173-04CF-7000-FD8BC114B6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35CE5769-6836-EC6B-8A91-9D0618BA18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21</a:t>
            </a:fld>
            <a:endParaRPr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5676EB-9FA8-D8D8-101B-3F598B26B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579" y="1678459"/>
            <a:ext cx="6447004" cy="514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000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F7A9DF17-1F87-6AC7-7453-00CF96C2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9D9DE17C-97AC-393D-D53B-6957DC8B20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400">
                <a:solidFill>
                  <a:schemeClr val="bg1"/>
                </a:solidFill>
              </a:rPr>
              <a:t>System Prototype : </a:t>
            </a:r>
            <a:r>
              <a:rPr lang="en-MY" sz="2400" b="1">
                <a:solidFill>
                  <a:srgbClr val="E0E0E0"/>
                </a:solidFill>
              </a:rPr>
              <a:t>Women-Only Skill Zone</a:t>
            </a:r>
            <a:r>
              <a:rPr lang="en-MY" sz="2400">
                <a:solidFill>
                  <a:schemeClr val="bg1"/>
                </a:solidFill>
              </a:rPr>
              <a:t> Page</a:t>
            </a:r>
            <a:endParaRPr lang="en-MY">
              <a:solidFill>
                <a:schemeClr val="bg1"/>
              </a:solidFill>
            </a:endParaRP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C2AA1844-E395-9237-3D7F-56BB14FC46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C20F085E-F054-7FD4-512D-0DC838529C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22</a:t>
            </a:fld>
            <a:endParaRPr/>
          </a:p>
        </p:txBody>
      </p:sp>
      <p:pic>
        <p:nvPicPr>
          <p:cNvPr id="2" name="Picture 1" descr="A screenshot of a web page&#10;&#10;AI-generated content may be incorrect.">
            <a:extLst>
              <a:ext uri="{FF2B5EF4-FFF2-40B4-BE49-F238E27FC236}">
                <a16:creationId xmlns:a16="http://schemas.microsoft.com/office/drawing/2014/main" id="{A26F6732-85FD-7875-E437-5F6B41DED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579" y="1745296"/>
            <a:ext cx="6447004" cy="50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69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879A5682-26E3-80A3-2B42-2FB11C1FD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8D76BE08-2181-FD57-8D61-0E380CD3DD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400">
                <a:solidFill>
                  <a:schemeClr val="bg1"/>
                </a:solidFill>
              </a:rPr>
              <a:t>System Prototype : chatbot Section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01C1CBFD-E229-CA9A-4836-01665E8E02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7704B761-A20F-C552-D2CD-C0E19D99E8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23</a:t>
            </a:fld>
            <a:endParaRPr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543073-ADF3-51D6-00B7-6A68C3FBC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77" y="1745296"/>
            <a:ext cx="6397008" cy="50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8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0829A7CB-28B0-A0B7-8585-9907CEA13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DCC4B054-0F4F-7C02-7C6E-E872FD1369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000">
                <a:solidFill>
                  <a:schemeClr val="bg1"/>
                </a:solidFill>
              </a:rPr>
              <a:t>System Prototype : Skill Card and Request Button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A28E9DFF-3E24-1FD4-D9A4-1F42D7F034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A5678D95-096A-0241-B014-7B62B429ED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24</a:t>
            </a:fld>
            <a:endParaRPr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0D1753-B95D-1956-4926-6057C2740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77" y="1796741"/>
            <a:ext cx="6397008" cy="491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56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8FCCF398-1D73-05B6-C6E2-B837BDF93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F9F0A3BF-0465-AB86-5831-2984D9F90A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99179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000" dirty="0">
                <a:solidFill>
                  <a:schemeClr val="bg1"/>
                </a:solidFill>
              </a:rPr>
              <a:t>System Prototype :  Request Button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E9602FE6-E891-9D69-A6C7-A05E107127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32AE960B-08AF-7E31-5F0B-E5EE31AF3C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25</a:t>
            </a:fld>
            <a:endParaRPr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5A4EEF-E8BD-B2E8-07EC-AAE62E1D7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272" y="1734958"/>
            <a:ext cx="4941969" cy="512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798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0A82BEE7-8947-F05F-BFE4-7FDB73A7A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E64F7D2B-172D-799C-60AC-8086F2757E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000">
                <a:solidFill>
                  <a:schemeClr val="bg1"/>
                </a:solidFill>
              </a:rPr>
              <a:t>System Prototype : Request Received Section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EB941FF4-27B7-EAD9-F2C3-7D0CC40299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A183199F-A7E7-A1D0-F7C5-8279EAB752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26</a:t>
            </a:fld>
            <a:endParaRPr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EC8A3B-E3F5-34BB-980A-B01CBFD3F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77" y="2037844"/>
            <a:ext cx="6397008" cy="442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213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7A9619A8-08B5-9ECA-0A7D-3E4D2B8BC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5A91F402-EA96-D621-6BA9-B505E72074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000">
                <a:solidFill>
                  <a:schemeClr val="bg1"/>
                </a:solidFill>
              </a:rPr>
              <a:t>System Prototype : Request Received Section(After Accepting)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275774FD-29B1-C2F5-498A-2E16C9B71E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2BD3EBE7-A657-1E1C-A6C0-88DFD6C6BE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27</a:t>
            </a:fld>
            <a:endParaRPr/>
          </a:p>
        </p:txBody>
      </p:sp>
      <p:pic>
        <p:nvPicPr>
          <p:cNvPr id="2" name="Picture 1" descr="A screenshot of a chat&#10;&#10;AI-generated content may be incorrect.">
            <a:extLst>
              <a:ext uri="{FF2B5EF4-FFF2-40B4-BE49-F238E27FC236}">
                <a16:creationId xmlns:a16="http://schemas.microsoft.com/office/drawing/2014/main" id="{467E8477-0202-03DC-7D72-891547709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77" y="2259770"/>
            <a:ext cx="6397008" cy="398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704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62C9FC2F-FE58-FEE7-63D3-8D750E526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721074A5-B49A-8C4D-286E-670257AAE4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000">
                <a:solidFill>
                  <a:schemeClr val="bg1"/>
                </a:solidFill>
              </a:rPr>
              <a:t>System Prototype :Messages Section(After Accepting)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76EDD080-C005-D13B-281F-7626524896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B5E25355-E173-DB13-4D1B-E3CF7019C2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28</a:t>
            </a:fld>
            <a:endParaRPr/>
          </a:p>
        </p:txBody>
      </p:sp>
      <p:pic>
        <p:nvPicPr>
          <p:cNvPr id="2" name="Picture 1" descr="A screenshot of a chat&#10;&#10;AI-generated content may be incorrect.">
            <a:extLst>
              <a:ext uri="{FF2B5EF4-FFF2-40B4-BE49-F238E27FC236}">
                <a16:creationId xmlns:a16="http://schemas.microsoft.com/office/drawing/2014/main" id="{416F225F-A904-764D-967C-33C9C8E85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50" y="1652231"/>
            <a:ext cx="6819461" cy="519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9116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CFE99B1F-72B8-D07C-C729-F59D895DF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922D8E42-4B45-CAFD-A401-6D0EC484D7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000">
                <a:solidFill>
                  <a:schemeClr val="bg1"/>
                </a:solidFill>
              </a:rPr>
              <a:t>System Prototype : Admin </a:t>
            </a:r>
            <a:r>
              <a:rPr lang="en-MY" sz="2000" err="1">
                <a:solidFill>
                  <a:schemeClr val="bg1"/>
                </a:solidFill>
              </a:rPr>
              <a:t>Deshboard</a:t>
            </a:r>
            <a:r>
              <a:rPr lang="en-MY" sz="2000">
                <a:solidFill>
                  <a:schemeClr val="bg1"/>
                </a:solidFill>
              </a:rPr>
              <a:t> </a:t>
            </a: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002C5A1C-3BA6-A3D3-9655-722B2953C8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2FE3EB9A-0008-44E8-8A03-E99D44F3C3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29</a:t>
            </a:fld>
            <a:endParaRPr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BAB3BE-584C-BECA-828B-7AE72B61F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69" y="1719357"/>
            <a:ext cx="7581460" cy="472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436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167A7EC7-9A5F-D104-71CE-F0A59BDF3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03CD3EC4-74EB-E8AD-54F6-0C86BBB059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000">
                <a:solidFill>
                  <a:schemeClr val="bg1"/>
                </a:solidFill>
              </a:rPr>
              <a:t>System Prototype : Admin </a:t>
            </a:r>
            <a:r>
              <a:rPr lang="en-MY" sz="2000" err="1">
                <a:solidFill>
                  <a:schemeClr val="bg1"/>
                </a:solidFill>
              </a:rPr>
              <a:t>Deshboard</a:t>
            </a:r>
            <a:r>
              <a:rPr lang="en-MY" sz="2000">
                <a:solidFill>
                  <a:schemeClr val="bg1"/>
                </a:solidFill>
              </a:rPr>
              <a:t> (Manage Users)</a:t>
            </a:r>
          </a:p>
          <a:p>
            <a:endParaRPr lang="en-MY" sz="2000">
              <a:solidFill>
                <a:schemeClr val="bg1"/>
              </a:solidFill>
            </a:endParaRP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BBCBCD58-4B60-9881-2068-D91303F05E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4BC46F41-B6D6-5D92-19F0-8F5C682B37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30</a:t>
            </a:fld>
            <a:endParaRPr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D689EA-B751-FD7D-3783-C90896E67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47" y="2262317"/>
            <a:ext cx="7962460" cy="376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432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A3A9B7E6-6801-272E-0315-CBA7F864A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>
            <a:extLst>
              <a:ext uri="{FF2B5EF4-FFF2-40B4-BE49-F238E27FC236}">
                <a16:creationId xmlns:a16="http://schemas.microsoft.com/office/drawing/2014/main" id="{9C828F4A-8EB4-8245-D23A-CE62135EF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MY" sz="2000">
                <a:solidFill>
                  <a:schemeClr val="bg1"/>
                </a:solidFill>
              </a:rPr>
              <a:t>System Prototype : Admin </a:t>
            </a:r>
            <a:r>
              <a:rPr lang="en-MY" sz="2000" err="1">
                <a:solidFill>
                  <a:schemeClr val="bg1"/>
                </a:solidFill>
              </a:rPr>
              <a:t>Deshboard</a:t>
            </a:r>
            <a:r>
              <a:rPr lang="en-MY" sz="2000">
                <a:solidFill>
                  <a:schemeClr val="bg1"/>
                </a:solidFill>
              </a:rPr>
              <a:t> (Manage Skills)</a:t>
            </a:r>
          </a:p>
          <a:p>
            <a:endParaRPr lang="en-MY" sz="2000">
              <a:solidFill>
                <a:schemeClr val="bg1"/>
              </a:solidFill>
            </a:endParaRPr>
          </a:p>
        </p:txBody>
      </p:sp>
      <p:sp>
        <p:nvSpPr>
          <p:cNvPr id="323" name="Google Shape;323;p9">
            <a:extLst>
              <a:ext uri="{FF2B5EF4-FFF2-40B4-BE49-F238E27FC236}">
                <a16:creationId xmlns:a16="http://schemas.microsoft.com/office/drawing/2014/main" id="{A3E0E030-407E-C6E7-88A8-0E7ED405C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324" name="Google Shape;324;p9">
            <a:extLst>
              <a:ext uri="{FF2B5EF4-FFF2-40B4-BE49-F238E27FC236}">
                <a16:creationId xmlns:a16="http://schemas.microsoft.com/office/drawing/2014/main" id="{93B26E0F-91F4-0953-0ED0-07F2F2C800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31</a:t>
            </a:fld>
            <a:endParaRPr/>
          </a:p>
        </p:txBody>
      </p:sp>
      <p:pic>
        <p:nvPicPr>
          <p:cNvPr id="2" name="Picture 1" descr="A screenshot of a website&#10;&#10;AI-generated content may be incorrect.">
            <a:extLst>
              <a:ext uri="{FF2B5EF4-FFF2-40B4-BE49-F238E27FC236}">
                <a16:creationId xmlns:a16="http://schemas.microsoft.com/office/drawing/2014/main" id="{855B7EC1-CF3D-4C44-F55C-DBCEC1EF2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23" y="2047490"/>
            <a:ext cx="8755352" cy="39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901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3369C13B-B119-C529-DFF3-4BE229B83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">
            <a:extLst>
              <a:ext uri="{FF2B5EF4-FFF2-40B4-BE49-F238E27FC236}">
                <a16:creationId xmlns:a16="http://schemas.microsoft.com/office/drawing/2014/main" id="{E6AE5E4A-B285-1D10-0323-C81D8F5799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MY"/>
              <a:t> Future Work</a:t>
            </a:r>
            <a:endParaRPr/>
          </a:p>
        </p:txBody>
      </p:sp>
      <p:sp>
        <p:nvSpPr>
          <p:cNvPr id="345" name="Google Shape;345;p12">
            <a:extLst>
              <a:ext uri="{FF2B5EF4-FFF2-40B4-BE49-F238E27FC236}">
                <a16:creationId xmlns:a16="http://schemas.microsoft.com/office/drawing/2014/main" id="{A9741ECE-ACCF-7310-6EF2-9140F83CE5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590" y="2396525"/>
            <a:ext cx="8929880" cy="428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>
              <a:buNone/>
            </a:pPr>
            <a:r>
              <a:rPr lang="en-US"/>
              <a:t>📝</a:t>
            </a:r>
            <a:r>
              <a:rPr lang="en-US" b="1"/>
              <a:t> Review &amp; Report Sections</a:t>
            </a:r>
          </a:p>
          <a:p>
            <a:pPr>
              <a:buNone/>
            </a:pPr>
            <a:r>
              <a:rPr lang="en-US"/>
              <a:t>Develop dedicated modules for user reviews and detailed activity reports to enhance transparency and feedback.</a:t>
            </a:r>
          </a:p>
          <a:p>
            <a:pPr>
              <a:buNone/>
            </a:pPr>
            <a:r>
              <a:rPr lang="en-US"/>
              <a:t>🏅 </a:t>
            </a:r>
            <a:r>
              <a:rPr lang="en-US" b="1"/>
              <a:t>Skill Badge System</a:t>
            </a:r>
          </a:p>
          <a:p>
            <a:pPr>
              <a:buNone/>
            </a:pPr>
            <a:r>
              <a:rPr lang="en-US"/>
              <a:t>Introduce visual skill badges based on verified contributions, peer endorsements, and completed exchanges.</a:t>
            </a:r>
          </a:p>
          <a:p>
            <a:pPr>
              <a:buNone/>
            </a:pPr>
            <a:r>
              <a:rPr lang="en-US"/>
              <a:t>🎨 </a:t>
            </a:r>
            <a:r>
              <a:rPr lang="en-US" b="1"/>
              <a:t>Design Enhancements</a:t>
            </a:r>
          </a:p>
          <a:p>
            <a:pPr>
              <a:buNone/>
            </a:pPr>
            <a:r>
              <a:rPr lang="en-US"/>
              <a:t>Refine UI/UX across the platform to improve accessibility, visual appeal, and user engagement.</a:t>
            </a:r>
          </a:p>
          <a:p>
            <a:pPr>
              <a:buNone/>
            </a:pPr>
            <a:r>
              <a:rPr lang="en-US"/>
              <a:t>📊 </a:t>
            </a:r>
            <a:r>
              <a:rPr lang="en-US" b="1"/>
              <a:t>User Dashboard Improvements</a:t>
            </a:r>
          </a:p>
          <a:p>
            <a:pPr>
              <a:buNone/>
            </a:pPr>
            <a:r>
              <a:rPr lang="en-US"/>
              <a:t>Enhance dashboard functionality with personalized insights, skill tracking, and exchange history.</a:t>
            </a:r>
          </a:p>
          <a:p>
            <a:pPr lvl="0" algn="l">
              <a:spcAft>
                <a:spcPts val="0"/>
              </a:spcAft>
              <a:buSzPts val="1440"/>
              <a:buNone/>
            </a:pPr>
            <a:endParaRPr lang="en-US" b="1"/>
          </a:p>
        </p:txBody>
      </p:sp>
      <p:sp>
        <p:nvSpPr>
          <p:cNvPr id="346" name="Google Shape;346;p12">
            <a:extLst>
              <a:ext uri="{FF2B5EF4-FFF2-40B4-BE49-F238E27FC236}">
                <a16:creationId xmlns:a16="http://schemas.microsoft.com/office/drawing/2014/main" id="{ACA0B6EC-F2D0-C140-B723-E976E20C76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53699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F4A3F7C8-4E0C-CEA4-4835-699DDF351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">
            <a:extLst>
              <a:ext uri="{FF2B5EF4-FFF2-40B4-BE49-F238E27FC236}">
                <a16:creationId xmlns:a16="http://schemas.microsoft.com/office/drawing/2014/main" id="{2B005CC0-3CFD-F46B-41DE-2AE63C198E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MY"/>
              <a:t> Future Work</a:t>
            </a:r>
            <a:endParaRPr/>
          </a:p>
        </p:txBody>
      </p:sp>
      <p:sp>
        <p:nvSpPr>
          <p:cNvPr id="345" name="Google Shape;345;p12">
            <a:extLst>
              <a:ext uri="{FF2B5EF4-FFF2-40B4-BE49-F238E27FC236}">
                <a16:creationId xmlns:a16="http://schemas.microsoft.com/office/drawing/2014/main" id="{BA094B52-58DD-5FF7-DADB-E600BB3945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590" y="2396525"/>
            <a:ext cx="8929880" cy="428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b="1"/>
              <a:t>👤 User Profile Refinement</a:t>
            </a:r>
          </a:p>
          <a:p>
            <a:pPr>
              <a:buNone/>
            </a:pPr>
            <a:r>
              <a:rPr lang="en-US"/>
              <a:t>Upgrade profile features to include , verification status, and </a:t>
            </a:r>
            <a:r>
              <a:rPr lang="en-US" dirty="0"/>
              <a:t>customizable privacy settings.</a:t>
            </a:r>
          </a:p>
          <a:p>
            <a:pPr>
              <a:buNone/>
            </a:pPr>
            <a:r>
              <a:rPr lang="en-US" b="1"/>
              <a:t>💬 Message Interface Redesign</a:t>
            </a:r>
          </a:p>
          <a:p>
            <a:pPr>
              <a:buNone/>
            </a:pPr>
            <a:r>
              <a:rPr lang="en-US"/>
              <a:t>Improve the messaging system with threaded conversations, media sharing.</a:t>
            </a:r>
          </a:p>
          <a:p>
            <a:pPr>
              <a:buNone/>
            </a:pPr>
            <a:r>
              <a:rPr lang="en-US" b="1"/>
              <a:t>🤖 Chatbot Functionality</a:t>
            </a:r>
          </a:p>
          <a:p>
            <a:pPr>
              <a:buNone/>
            </a:pPr>
            <a:r>
              <a:rPr lang="en-US"/>
              <a:t>Expand chatbot capabilities to assist with skill discovery, FAQs, and onboarding support.</a:t>
            </a:r>
          </a:p>
          <a:p>
            <a:pPr>
              <a:buNone/>
            </a:pPr>
            <a:r>
              <a:rPr lang="en-US"/>
              <a:t>🛠</a:t>
            </a:r>
            <a:r>
              <a:rPr lang="en-US" b="1"/>
              <a:t>️ Admin Dashboard &amp; Report Management</a:t>
            </a:r>
          </a:p>
          <a:p>
            <a:pPr>
              <a:buNone/>
            </a:pPr>
            <a:r>
              <a:rPr lang="en-US"/>
              <a:t>Strengthen admin tools for managing users, moderating content, and handling community reports efficiently.</a:t>
            </a:r>
          </a:p>
          <a:p>
            <a:pPr lvl="0" algn="l">
              <a:spcAft>
                <a:spcPts val="0"/>
              </a:spcAft>
              <a:buSzPts val="1440"/>
              <a:buNone/>
            </a:pPr>
            <a:endParaRPr lang="en-US"/>
          </a:p>
        </p:txBody>
      </p:sp>
      <p:sp>
        <p:nvSpPr>
          <p:cNvPr id="346" name="Google Shape;346;p12">
            <a:extLst>
              <a:ext uri="{FF2B5EF4-FFF2-40B4-BE49-F238E27FC236}">
                <a16:creationId xmlns:a16="http://schemas.microsoft.com/office/drawing/2014/main" id="{C7647148-58B5-9576-8463-FF3EE7F3A3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919279"/>
      </p:ext>
    </p:extLst>
  </p:cSld>
  <p:clrMapOvr>
    <a:masterClrMapping/>
  </p:clrMapOvr>
</p:sld>
</file>

<file path=ppt/slides/slide34.xml><?xml version="1.0" encoding="utf-8"?>
<ns0:sld xmlns:ns0="http://schemas.openxmlformats.org/presentationml/2006/main" xmlns:ns1="http://schemas.openxmlformats.org/drawingml/2006/main">
  <ns0:cSld>
    <ns0:spTree>
      <ns0:nvGrpSpPr>
        <ns0:cNvPr id="1" name="Shape 350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51" name="Google Shape;351;p13"/>
          <ns0:cNvSpPr txBox="1">
            <ns1:spLocks noGrp="1"/>
          </ns0:cNvSpPr>
          <ns0:nvPr>
            <ns0:ph type="title"/>
          </ns0:nvPr>
        </ns0:nvSpPr>
        <ns0:spPr>
          <ns1:xfrm>
            <ns1:off x="865970" y="927098"/>
            <ns1:ext cx="6343672" cy="709865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91425" tIns="45700" rIns="91425" bIns="45700" anchor="ctr" anchorCtr="0">
            <ns1:noAutofit/>
          </ns1:bodyPr>
          <ns1:lstStyle/>
          <ns1:p>
            <ns1:pPr marL="0" lvl="0" indent="0" algn="l" rtl="0">
              <ns1:spcBef>
                <ns1:spcPts val="0"/>
              </ns1:spcBef>
              <ns1:spcAft>
                <ns1:spcPts val="0"/>
              </ns1:spcAft>
              <ns1:buClr>
                <ns1:schemeClr val="lt1"/>
              </ns1:buClr>
              <ns1:buSzPts val="3200"/>
              <ns1:buFont typeface="Century Gothic"/>
              <ns1:buNone/>
            </ns1:pPr>
            <ns1:r>
              <ns1:rPr lang="en-MY"/>
              <ns1:t>Project Contribution</ns1:t>
            </ns1:r>
            <ns1:endParaRPr/>
          </ns1:p>
        </ns0:txBody>
      </ns0:sp>
      <ns0:sp>
        <ns0:nvSpPr>
          <ns0:cNvPr id="352" name="Google Shape;352;p13"/>
          <ns0:cNvSpPr txBox="1">
            <ns1:spLocks noGrp="1"/>
          </ns0:cNvSpPr>
          <ns0:nvPr>
            <ns0:ph type="body" idx="1"/>
          </ns0:nvPr>
        </ns0:nvSpPr>
        <ns0:spPr>
          <ns1:xfrm>
            <ns1:off x="864382" y="2489200"/>
            <ns1:ext cx="6345260" cy="353060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91425" tIns="45700" rIns="91425" bIns="45700" anchor="t" anchorCtr="0">
            <ns1:normAutofit/>
          </ns1:bodyPr>
          <ns1:lstStyle/>
          <ns1:p>
            <ns1:pPr marL="342900" indent="-342900">
              <ns1:spcBef>
                <ns1:spcPts val="0"/>
              </ns1:spcBef>
            </ns1:pPr>
            <ns1:r>
              <ns1:rPr lang="en-MY" b="1">
                <ns1:solidFill>
                  <ns1:srgbClr val="860C4C"/>
                </ns1:solidFill>
              </ns1:rPr>
              <ns1:t>Developer: </ns1:t>
            </ns1:r>
            <ns1:r>
              <ns1:rPr lang="en-MY"/>
              <ns1:t>Farmanullah Ansari (2k22/SWE/40):</ns1:t>
            </ns1:r>
          </ns1:p>
          <ns1:p>
            <ns1:pPr marL="342900" lvl="0" indent="-250825" algn="l" rtl="0">
              <ns1:spcBef>
                <ns1:spcPts val="1000"/>
              </ns1:spcBef>
              <ns1:spcAft>
                <ns1:spcPts val="0"/>
              </ns1:spcAft>
              <ns1:buSzPts val="1440"/>
              <ns1:buNone/>
            </ns1:pPr>
            <ns1:endParaRPr/>
          </ns1:p>
          <ns1:p>
            <ns1:pPr marL="342900" lvl="0" indent="-342900" algn="l" rtl="0">
              <ns1:spcBef>
                <ns1:spcPts val="1000"/>
              </ns1:spcBef>
              <ns1:spcAft>
                <ns1:spcPts val="0"/>
              </ns1:spcAft>
              <ns1:buSzPts val="1440"/>
              <ns1:buChar char="►"/>
            </ns1:pPr>
            <ns1:endParaRPr lang="en-MY"/>
          </ns1:p>
          <ns1:p>
            <ns1:pPr marL="342900" lvl="0" indent="-250825" algn="l" rtl="0">
              <ns1:spcBef>
                <ns1:spcPts val="1000"/>
              </ns1:spcBef>
              <ns1:spcAft>
                <ns1:spcPts val="0"/>
              </ns1:spcAft>
              <ns1:buSzPts val="1440"/>
              <ns1:buNone/>
            </ns1:pPr>
            <ns1:endParaRPr/>
          </ns1:p>
          <ns1:p>
            <ns1:pPr marL="342900" lvl="0" indent="-250825" algn="l" rtl="0">
              <ns1:spcBef>
                <ns1:spcPts val="1000"/>
              </ns1:spcBef>
              <ns1:spcAft>
                <ns1:spcPts val="0"/>
              </ns1:spcAft>
              <ns1:buSzPts val="1440"/>
              <ns1:buNone/>
            </ns1:pPr>
            <ns1:endParaRPr/>
          </ns1:p>
        </ns0:txBody>
      </ns0:sp>
      <ns0:sp>
        <ns0:nvSpPr>
          <ns0:cNvPr id="353" name="Google Shape;353;p13"/>
          <ns0:cNvSpPr txBox="1">
            <ns1:spLocks noGrp="1"/>
          </ns0:cNvSpPr>
          <ns0:nvPr>
            <ns0:ph type="sldNum" idx="12"/>
          </ns0:nvPr>
        </ns0:nvSpPr>
        <ns0:spPr>
          <ns1:xfrm>
            <ns1:off x="7678616" y="295730"/>
            <ns1:ext cx="791308" cy="767687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91425" tIns="45700" rIns="91425" bIns="45700" anchor="b" anchorCtr="0">
            <ns1:noAutofit/>
          </ns1:bodyPr>
          <ns1:lstStyle/>
          <ns1:p>
            <ns1:pPr marL="0" lvl="0" indent="0" algn="ctr" rtl="0">
              <ns1:spcBef>
                <ns1:spcPts val="0"/>
              </ns1:spcBef>
              <ns1:spcAft>
                <ns1:spcPts val="0"/>
              </ns1:spcAft>
              <ns1:buNone/>
            </ns1:pPr>
            <ns1:fld id="{00000000-1234-1234-1234-123412341234}" type="slidenum">
              <ns1:rPr lang="en-MY"/>
              <ns1:t>34</ns1:t>
            </ns1:fld>
            <ns1:endParaRPr/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Ion Boardroom">
  <a:themeElements>
    <a:clrScheme name="Ion Boardroom">
      <a:dk1>
        <a:srgbClr val="000000"/>
      </a:dk1>
      <a:lt1>
        <a:srgbClr val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34</Slides>
  <Notes>34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Ion Boardroom</vt:lpstr>
      <vt:lpstr>Gadd Kaam – SkillSwap Pakistan </vt:lpstr>
      <vt:lpstr>Contents </vt:lpstr>
      <vt:lpstr>Introduction of Project</vt:lpstr>
      <vt:lpstr>Aims and Objectives</vt:lpstr>
      <vt:lpstr>Scope of Project</vt:lpstr>
      <vt:lpstr>Tools and Technologies</vt:lpstr>
      <vt:lpstr>Development Methodology</vt:lpstr>
      <vt:lpstr>System diagrams</vt:lpstr>
      <vt:lpstr>System Prototype : Signup Page</vt:lpstr>
      <vt:lpstr>System Prototype : Login Page</vt:lpstr>
      <vt:lpstr>System Prototype : Home Page (Light)</vt:lpstr>
      <vt:lpstr>System Prototype : User Dashboard (Dark)</vt:lpstr>
      <vt:lpstr>System Prototype : Home Page (Urdu)</vt:lpstr>
      <vt:lpstr>System Prototype : Home Page (Sindhi)</vt:lpstr>
      <vt:lpstr>System Prototype : Home Page (helpline)</vt:lpstr>
      <vt:lpstr>System Prototype : Offer Skill Page(Step 1)</vt:lpstr>
      <vt:lpstr>System Prototype : Offer Skill Page(Step 2)</vt:lpstr>
      <vt:lpstr>System Prototype : Offer Skill Page(Step 3)</vt:lpstr>
      <vt:lpstr>System Prototype : Offer Skill Page(Step 4)</vt:lpstr>
      <vt:lpstr>System Prototype : My Offered Skills Page</vt:lpstr>
      <vt:lpstr>System Prototype : Skill Marketplace Page</vt:lpstr>
      <vt:lpstr>System Prototype : Women-Only Skill Zone Page</vt:lpstr>
      <vt:lpstr>System Prototype : chatbot Section</vt:lpstr>
      <vt:lpstr>System Prototype : Skill Card and Request Button</vt:lpstr>
      <vt:lpstr>System Prototype :  Request Button</vt:lpstr>
      <vt:lpstr>System Prototype : Request Received Section</vt:lpstr>
      <vt:lpstr>System Prototype : Request Received Section(After Accepting)</vt:lpstr>
      <vt:lpstr>System Prototype :Messages Section(After Accepting)</vt:lpstr>
      <vt:lpstr>System Prototype : Admin Deshboard </vt:lpstr>
      <vt:lpstr>System Prototype : Admin Deshboard (Manage Users) </vt:lpstr>
      <vt:lpstr>System Prototype : Admin Deshboard (Manage Skills) </vt:lpstr>
      <vt:lpstr> Future Work</vt:lpstr>
      <vt:lpstr> Future Work</vt:lpstr>
      <vt:lpstr>Contribution of Each Group Member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Zeeshan Bhatti</dc:creator>
  <cp:revision>23</cp:revision>
  <dcterms:created xsi:type="dcterms:W3CDTF">2016-01-21T07:31:52Z</dcterms:created>
  <dcterms:modified xsi:type="dcterms:W3CDTF">2025-10-02T06:14:52Z</dcterms:modified>
</cp:coreProperties>
</file>